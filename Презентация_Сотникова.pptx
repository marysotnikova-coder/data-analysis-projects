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5" r:id="rId1"/>
  </p:sldMasterIdLst>
  <p:sldIdLst>
    <p:sldId id="256" r:id="rId2"/>
    <p:sldId id="257" r:id="rId3"/>
    <p:sldId id="259" r:id="rId4"/>
    <p:sldId id="260" r:id="rId5"/>
    <p:sldId id="262" r:id="rId6"/>
    <p:sldId id="265" r:id="rId7"/>
    <p:sldId id="263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Мария" initials="М" lastIdx="2" clrIdx="0">
    <p:extLst>
      <p:ext uri="{19B8F6BF-5375-455C-9EA6-DF929625EA0E}">
        <p15:presenceInfo xmlns:p15="http://schemas.microsoft.com/office/powerpoint/2012/main" userId="Мария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1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1052;&#1072;&#1088;&#1080;&#1103;\Downloads\17%2010_19_14678a2ea21f1305.77009604&#1042;&#1086;&#1088;&#1082;&#1096;&#1086;&#1087;excel0version1&#1057;&#1086;&#1090;&#1085;&#1080;&#1082;&#1086;&#1074;&#1072;.xlsb%20(2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1052;&#1072;&#1088;&#1080;&#1103;\Downloads\17%2010_19_14678a2ea21f1305.77009604&#1042;&#1086;&#1088;&#1082;&#1096;&#1086;&#1087;excel0version1&#1057;&#1086;&#1090;&#1085;&#1080;&#1082;&#1086;&#1074;&#1072;.xlsb%20(2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1052;&#1072;&#1088;&#1080;&#1103;\Downloads\17%2010_19_14678a2ea21f1305.77009604&#1042;&#1086;&#1088;&#1082;&#1096;&#1086;&#1087;excel0version1&#1057;&#1086;&#1090;&#1085;&#1080;&#1082;&#1086;&#1074;&#1072;.xlsb%20(2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1052;&#1072;&#1088;&#1080;&#1103;\Downloads\17%2010_19_14678a2ea21f1305.77009604&#1042;&#1086;&#1088;&#1082;&#1096;&#1086;&#1087;excel0version1&#1057;&#1086;&#1090;&#1085;&#1080;&#1082;&#1086;&#1074;&#1072;.xlsb%20(2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1052;&#1072;&#1088;&#1080;&#1103;\Downloads\17%2010_19_14678a2ea21f1305.77009604&#1042;&#1086;&#1088;&#1082;&#1096;&#1086;&#1087;excel0version1&#1057;&#1086;&#1090;&#1085;&#1080;&#1082;&#1086;&#1074;&#1072;.xlsb%20(2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1052;&#1072;&#1088;&#1080;&#1103;\Downloads\17%2010_19_14678a2ea21f1305.77009604&#1042;&#1086;&#1088;&#1082;&#1096;&#1086;&#1087;excel0version1&#1057;&#1086;&#1090;&#1085;&#1080;&#1082;&#1086;&#1074;&#1072;.xlsb%20(2)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1052;&#1072;&#1088;&#1080;&#1103;\Downloads\07%2013_18_0767a6080f584035.03909337transaction_list2&#1057;&#1086;&#1090;&#1085;&#1080;&#1082;&#1086;&#1074;&#1072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1052;&#1072;&#1088;&#1080;&#1103;\Downloads\07%2013_18_0767a6080f584035.03909337transaction_list2&#1057;&#1086;&#1090;&#1085;&#1080;&#1082;&#1086;&#1074;&#1072;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1052;&#1072;&#1088;&#1080;&#1103;\Downloads\07%2013_18_0767a6080f584035.03909337transaction_list2&#1057;&#1086;&#1090;&#1085;&#1080;&#1082;&#1086;&#1074;&#1072;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1052;&#1072;&#1088;&#1080;&#1103;\Downloads\07%2013_18_0767a6080f584035.03909337transaction_list2&#1057;&#1086;&#1090;&#1085;&#1080;&#1082;&#1086;&#1074;&#1072;%20(1)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[17 10_19_14678a2ea21f1305.77009604Воркшопexcel0version1Сотникова.xlsb (2).xlsx]Задание 3!Сводная таблица4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Доля касс самообслуживания</a:t>
            </a:r>
            <a:r>
              <a:rPr lang="en-US"/>
              <a:t> </a:t>
            </a:r>
            <a:r>
              <a:rPr lang="ru-RU"/>
              <a:t>по</a:t>
            </a:r>
            <a:r>
              <a:rPr lang="ru-RU" baseline="0"/>
              <a:t> точкам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lumMod val="60000"/>
                <a:lumOff val="40000"/>
                <a:alpha val="58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accent2">
                <a:lumMod val="40000"/>
                <a:lumOff val="60000"/>
                <a:alpha val="68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lumMod val="60000"/>
                <a:lumOff val="40000"/>
                <a:alpha val="58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accent2">
                <a:lumMod val="40000"/>
                <a:lumOff val="60000"/>
                <a:alpha val="68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lumMod val="60000"/>
                <a:lumOff val="40000"/>
                <a:alpha val="58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accent2">
                <a:lumMod val="40000"/>
                <a:lumOff val="60000"/>
                <a:alpha val="68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'Задание 3'!$B$1:$B$2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accent1">
                  <a:lumMod val="60000"/>
                  <a:lumOff val="40000"/>
                  <a:alpha val="58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'Задание 3'!$A$3:$A$9</c:f>
              <c:strCache>
                <c:ptCount val="6"/>
                <c:pt idx="0">
                  <c:v>Ленинский пр-т, 162/1</c:v>
                </c:pt>
                <c:pt idx="1">
                  <c:v>пр-т Вернадского, 88к3</c:v>
                </c:pt>
                <c:pt idx="2">
                  <c:v>Ракетный б-р, 14к1</c:v>
                </c:pt>
                <c:pt idx="3">
                  <c:v>Симферопольский б-р, 22</c:v>
                </c:pt>
                <c:pt idx="4">
                  <c:v>ул. Чертановская,  20к2</c:v>
                </c:pt>
                <c:pt idx="5">
                  <c:v>ул. Щорса, 26/3</c:v>
                </c:pt>
              </c:strCache>
            </c:strRef>
          </c:cat>
          <c:val>
            <c:numRef>
              <c:f>'Задание 3'!$B$3:$B$9</c:f>
              <c:numCache>
                <c:formatCode>General</c:formatCode>
                <c:ptCount val="6"/>
                <c:pt idx="0">
                  <c:v>9456</c:v>
                </c:pt>
                <c:pt idx="1">
                  <c:v>4868</c:v>
                </c:pt>
                <c:pt idx="2">
                  <c:v>5604</c:v>
                </c:pt>
                <c:pt idx="3">
                  <c:v>455</c:v>
                </c:pt>
                <c:pt idx="4">
                  <c:v>1255</c:v>
                </c:pt>
                <c:pt idx="5">
                  <c:v>3112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05-4905-A486-C84BD89B126A}"/>
            </c:ext>
          </c:extLst>
        </c:ser>
        <c:ser>
          <c:idx val="1"/>
          <c:order val="1"/>
          <c:tx>
            <c:strRef>
              <c:f>'Задание 3'!$C$1:$C$2</c:f>
              <c:strCache>
                <c:ptCount val="1"/>
                <c:pt idx="0">
                  <c:v>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accent2">
                  <a:lumMod val="40000"/>
                  <a:lumOff val="60000"/>
                  <a:alpha val="68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'Задание 3'!$A$3:$A$9</c:f>
              <c:strCache>
                <c:ptCount val="6"/>
                <c:pt idx="0">
                  <c:v>Ленинский пр-т, 162/1</c:v>
                </c:pt>
                <c:pt idx="1">
                  <c:v>пр-т Вернадского, 88к3</c:v>
                </c:pt>
                <c:pt idx="2">
                  <c:v>Ракетный б-р, 14к1</c:v>
                </c:pt>
                <c:pt idx="3">
                  <c:v>Симферопольский б-р, 22</c:v>
                </c:pt>
                <c:pt idx="4">
                  <c:v>ул. Чертановская,  20к2</c:v>
                </c:pt>
                <c:pt idx="5">
                  <c:v>ул. Щорса, 26/3</c:v>
                </c:pt>
              </c:strCache>
            </c:strRef>
          </c:cat>
          <c:val>
            <c:numRef>
              <c:f>'Задание 3'!$C$3:$C$9</c:f>
              <c:numCache>
                <c:formatCode>General</c:formatCode>
                <c:ptCount val="6"/>
                <c:pt idx="0">
                  <c:v>1387</c:v>
                </c:pt>
                <c:pt idx="1">
                  <c:v>1761</c:v>
                </c:pt>
                <c:pt idx="3">
                  <c:v>1830</c:v>
                </c:pt>
                <c:pt idx="4">
                  <c:v>3740</c:v>
                </c:pt>
                <c:pt idx="5">
                  <c:v>1192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605-4905-A486-C84BD89B126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071437151"/>
        <c:axId val="1071438591"/>
      </c:barChart>
      <c:catAx>
        <c:axId val="107143715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Адрес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71438591"/>
        <c:crosses val="autoZero"/>
        <c:auto val="1"/>
        <c:lblAlgn val="ctr"/>
        <c:lblOffset val="100"/>
        <c:noMultiLvlLbl val="0"/>
      </c:catAx>
      <c:valAx>
        <c:axId val="107143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Доля касс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71437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[17 10_19_14678a2ea21f1305.77009604Воркшопexcel0version1Сотникова.xlsb (2).xlsx]Задание 3!Сводная таблица5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Доля операций</a:t>
            </a:r>
            <a:r>
              <a:rPr lang="ru-RU" baseline="0"/>
              <a:t> на</a:t>
            </a:r>
            <a:r>
              <a:rPr lang="ru-RU"/>
              <a:t> кассах самообслуживания по датам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'Задание 3'!$B$19</c:f>
              <c:strCache>
                <c:ptCount val="1"/>
                <c:pt idx="0">
                  <c:v>Итог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'Задание 3'!$A$20:$A$24</c:f>
              <c:strCache>
                <c:ptCount val="4"/>
                <c:pt idx="0">
                  <c:v>1-сен</c:v>
                </c:pt>
                <c:pt idx="1">
                  <c:v>2-сен</c:v>
                </c:pt>
                <c:pt idx="2">
                  <c:v>3-сен</c:v>
                </c:pt>
                <c:pt idx="3">
                  <c:v>4-сен</c:v>
                </c:pt>
              </c:strCache>
            </c:strRef>
          </c:cat>
          <c:val>
            <c:numRef>
              <c:f>'Задание 3'!$B$20:$B$24</c:f>
              <c:numCache>
                <c:formatCode>0.00%</c:formatCode>
                <c:ptCount val="4"/>
                <c:pt idx="0">
                  <c:v>0.23085743406803413</c:v>
                </c:pt>
                <c:pt idx="1">
                  <c:v>0.22876557191392979</c:v>
                </c:pt>
                <c:pt idx="2">
                  <c:v>0.30071680509728071</c:v>
                </c:pt>
                <c:pt idx="3">
                  <c:v>0.36099255583126549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C77-44AC-8D12-3DEB1A4A59C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682889247"/>
        <c:axId val="1682887807"/>
      </c:lineChart>
      <c:catAx>
        <c:axId val="168288924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2887807"/>
        <c:crosses val="autoZero"/>
        <c:auto val="1"/>
        <c:lblAlgn val="ctr"/>
        <c:lblOffset val="100"/>
        <c:noMultiLvlLbl val="0"/>
      </c:catAx>
      <c:valAx>
        <c:axId val="16828878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Доля самообслуживания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28892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[17 10_19_14678a2ea21f1305.77009604Воркшопexcel0version1Сотникова.xlsb (2).xlsx]Задание 3!Сводная таблица7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Средняя длительность операций по дням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'Задание 3'!$B$42</c:f>
              <c:strCache>
                <c:ptCount val="1"/>
                <c:pt idx="0">
                  <c:v>Итог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'Задание 3'!$A$43:$A$47</c:f>
              <c:strCache>
                <c:ptCount val="4"/>
                <c:pt idx="0">
                  <c:v>1-сен</c:v>
                </c:pt>
                <c:pt idx="1">
                  <c:v>2-сен</c:v>
                </c:pt>
                <c:pt idx="2">
                  <c:v>3-сен</c:v>
                </c:pt>
                <c:pt idx="3">
                  <c:v>4-сен</c:v>
                </c:pt>
              </c:strCache>
            </c:strRef>
          </c:cat>
          <c:val>
            <c:numRef>
              <c:f>'Задание 3'!$B$43:$B$47</c:f>
              <c:numCache>
                <c:formatCode>0.00</c:formatCode>
                <c:ptCount val="4"/>
                <c:pt idx="0">
                  <c:v>124.70721337497949</c:v>
                </c:pt>
                <c:pt idx="1">
                  <c:v>80.103562879249552</c:v>
                </c:pt>
                <c:pt idx="2">
                  <c:v>85.846029801290712</c:v>
                </c:pt>
                <c:pt idx="3">
                  <c:v>90.399762174202408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39A-48E0-A4E0-356E5EFFD98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338018399"/>
        <c:axId val="338020319"/>
      </c:lineChart>
      <c:catAx>
        <c:axId val="33801839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38020319"/>
        <c:crosses val="autoZero"/>
        <c:auto val="1"/>
        <c:lblAlgn val="ctr"/>
        <c:lblOffset val="100"/>
        <c:noMultiLvlLbl val="0"/>
      </c:catAx>
      <c:valAx>
        <c:axId val="3380203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Средняя длительность операций (сек)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380183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[17 10_19_14678a2ea21f1305.77009604Воркшопexcel0version1Сотникова.xlsb (2).xlsx]Анализ 1 сентября!Сводная таблица1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Средняя длительность транзакций по адресам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2">
                <a:lumMod val="60000"/>
                <a:lumOff val="40000"/>
                <a:alpha val="68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5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5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5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3.2665181885671891E-2"/>
              <c:y val="-2.2222226542670705E-2"/>
            </c:manualLayout>
          </c:layout>
          <c:spPr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5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5.3452115812917596E-2"/>
              <c:y val="4.9382725650379249E-3"/>
            </c:manualLayout>
          </c:layout>
          <c:spPr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5.1967334818114386E-2"/>
              <c:y val="-1.4814817695113773E-2"/>
            </c:manualLayout>
          </c:layout>
          <c:spPr>
            <a:solidFill>
              <a:schemeClr val="accent1">
                <a:alpha val="64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2">
                <a:lumMod val="60000"/>
                <a:lumOff val="40000"/>
                <a:alpha val="68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5.1967334818114386E-2"/>
              <c:y val="-1.4814817695113773E-2"/>
            </c:manualLayout>
          </c:layout>
          <c:spPr>
            <a:solidFill>
              <a:schemeClr val="accent1">
                <a:alpha val="64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2">
                <a:lumMod val="60000"/>
                <a:lumOff val="40000"/>
                <a:alpha val="68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2">
                <a:lumMod val="60000"/>
                <a:lumOff val="40000"/>
                <a:alpha val="68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accent5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chemeClr val="accent5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3.2665181885671891E-2"/>
              <c:y val="-2.2222226542670705E-2"/>
            </c:manualLayout>
          </c:layout>
          <c:spPr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8575" cap="rnd">
            <a:solidFill>
              <a:schemeClr val="accent5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28575" cap="rnd">
            <a:solidFill>
              <a:schemeClr val="accent5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5.3452115812917596E-2"/>
              <c:y val="4.9382725650379249E-3"/>
            </c:manualLayout>
          </c:layout>
          <c:spPr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5.1967334818114386E-2"/>
              <c:y val="-1.4814817695113773E-2"/>
            </c:manualLayout>
          </c:layout>
          <c:spPr>
            <a:solidFill>
              <a:schemeClr val="accent1">
                <a:alpha val="64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2">
                <a:lumMod val="60000"/>
                <a:lumOff val="40000"/>
                <a:alpha val="68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2">
                <a:lumMod val="60000"/>
                <a:lumOff val="40000"/>
                <a:alpha val="68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 w="28575" cap="rnd">
            <a:solidFill>
              <a:schemeClr val="accent5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 w="28575" cap="rnd">
            <a:solidFill>
              <a:schemeClr val="accent5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3.2665181885671891E-2"/>
              <c:y val="-2.2222226542670705E-2"/>
            </c:manualLayout>
          </c:layout>
          <c:spPr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 w="28575" cap="rnd">
            <a:solidFill>
              <a:schemeClr val="accent5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 w="28575" cap="rnd">
            <a:solidFill>
              <a:schemeClr val="accent5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5.3452115812917596E-2"/>
              <c:y val="4.9382725650379249E-3"/>
            </c:manualLayout>
          </c:layout>
          <c:spPr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7.4761086236769414E-2"/>
          <c:y val="0.18925696301292175"/>
          <c:w val="0.67339570788945502"/>
          <c:h val="0.70462500332944555"/>
        </c:manualLayout>
      </c:layout>
      <c:lineChart>
        <c:grouping val="standard"/>
        <c:varyColors val="0"/>
        <c:ser>
          <c:idx val="0"/>
          <c:order val="0"/>
          <c:tx>
            <c:strRef>
              <c:f>'Анализ 1 сентября'!$B$3:$B$4</c:f>
              <c:strCache>
                <c:ptCount val="1"/>
                <c:pt idx="0">
                  <c:v>Ленинский пр-т, 162/1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Pt>
            <c:idx val="11"/>
            <c:marker>
              <c:symbol val="none"/>
            </c:marker>
            <c:bubble3D val="0"/>
            <c:spPr>
              <a:ln w="28575" cap="rnd">
                <a:solidFill>
                  <a:schemeClr val="accen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2F85-41E5-B8B0-FAF51B8C3CFE}"/>
              </c:ext>
            </c:extLst>
          </c:dPt>
          <c:dLbls>
            <c:dLbl>
              <c:idx val="11"/>
              <c:layout>
                <c:manualLayout>
                  <c:x val="-5.1967334818114386E-2"/>
                  <c:y val="-1.4814817695113773E-2"/>
                </c:manualLayout>
              </c:layout>
              <c:spPr>
                <a:solidFill>
                  <a:schemeClr val="accent1">
                    <a:alpha val="64000"/>
                  </a:schemeClr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F85-41E5-B8B0-FAF51B8C3CF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'Анализ 1 сентября'!$A$5:$A$29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'Анализ 1 сентября'!$B$5:$B$29</c:f>
              <c:numCache>
                <c:formatCode>0.00</c:formatCode>
                <c:ptCount val="24"/>
                <c:pt idx="0">
                  <c:v>75.395693813505417</c:v>
                </c:pt>
                <c:pt idx="1">
                  <c:v>63.803369537015094</c:v>
                </c:pt>
                <c:pt idx="2">
                  <c:v>64.302538320128065</c:v>
                </c:pt>
                <c:pt idx="3">
                  <c:v>73.825465878638042</c:v>
                </c:pt>
                <c:pt idx="4">
                  <c:v>77.495481276207343</c:v>
                </c:pt>
                <c:pt idx="5">
                  <c:v>70.93505214408809</c:v>
                </c:pt>
                <c:pt idx="6">
                  <c:v>64.32266108400654</c:v>
                </c:pt>
                <c:pt idx="7">
                  <c:v>72.744772363895251</c:v>
                </c:pt>
                <c:pt idx="8">
                  <c:v>75.836212983211652</c:v>
                </c:pt>
                <c:pt idx="9">
                  <c:v>72.093852642124062</c:v>
                </c:pt>
                <c:pt idx="10">
                  <c:v>74.246592381361708</c:v>
                </c:pt>
                <c:pt idx="11">
                  <c:v>166.0814692533867</c:v>
                </c:pt>
                <c:pt idx="12">
                  <c:v>169.63459274265915</c:v>
                </c:pt>
                <c:pt idx="13">
                  <c:v>161.19862416597579</c:v>
                </c:pt>
                <c:pt idx="14">
                  <c:v>156.1355107259827</c:v>
                </c:pt>
                <c:pt idx="15">
                  <c:v>159.06993045640939</c:v>
                </c:pt>
                <c:pt idx="16">
                  <c:v>68.654513563466281</c:v>
                </c:pt>
                <c:pt idx="17">
                  <c:v>69.996400116551143</c:v>
                </c:pt>
                <c:pt idx="18">
                  <c:v>78.990293901342042</c:v>
                </c:pt>
                <c:pt idx="19">
                  <c:v>82.032843651885003</c:v>
                </c:pt>
                <c:pt idx="20">
                  <c:v>84.799599664677913</c:v>
                </c:pt>
                <c:pt idx="21">
                  <c:v>74.605752171303791</c:v>
                </c:pt>
                <c:pt idx="22">
                  <c:v>65.935049111604556</c:v>
                </c:pt>
                <c:pt idx="23">
                  <c:v>78.353372954434775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F85-41E5-B8B0-FAF51B8C3CFE}"/>
            </c:ext>
          </c:extLst>
        </c:ser>
        <c:ser>
          <c:idx val="1"/>
          <c:order val="1"/>
          <c:tx>
            <c:strRef>
              <c:f>'Анализ 1 сентября'!$C$3:$C$4</c:f>
              <c:strCache>
                <c:ptCount val="1"/>
                <c:pt idx="0">
                  <c:v>пр-т Вернадского, 88к3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Pt>
            <c:idx val="15"/>
            <c:marker>
              <c:symbol val="none"/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4-2F85-41E5-B8B0-FAF51B8C3CFE}"/>
              </c:ext>
            </c:extLst>
          </c:dPt>
          <c:dLbls>
            <c:dLbl>
              <c:idx val="1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F85-41E5-B8B0-FAF51B8C3CFE}"/>
                </c:ext>
              </c:extLst>
            </c:dLbl>
            <c:spPr>
              <a:solidFill>
                <a:schemeClr val="accent2">
                  <a:lumMod val="60000"/>
                  <a:lumOff val="40000"/>
                  <a:alpha val="68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'Анализ 1 сентября'!$A$5:$A$29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'Анализ 1 сентября'!$C$5:$C$29</c:f>
              <c:numCache>
                <c:formatCode>0.00</c:formatCode>
                <c:ptCount val="24"/>
                <c:pt idx="0">
                  <c:v>107.49582496272134</c:v>
                </c:pt>
                <c:pt idx="1">
                  <c:v>124.21704964204268</c:v>
                </c:pt>
                <c:pt idx="2">
                  <c:v>115.94877371956643</c:v>
                </c:pt>
                <c:pt idx="3">
                  <c:v>117.15483950078487</c:v>
                </c:pt>
                <c:pt idx="4">
                  <c:v>107.61570963252969</c:v>
                </c:pt>
                <c:pt idx="5">
                  <c:v>107.16517550356097</c:v>
                </c:pt>
                <c:pt idx="6">
                  <c:v>113.95561235612664</c:v>
                </c:pt>
                <c:pt idx="7">
                  <c:v>112.12564257333393</c:v>
                </c:pt>
                <c:pt idx="8">
                  <c:v>120.5230783858061</c:v>
                </c:pt>
                <c:pt idx="9">
                  <c:v>109.85963646697797</c:v>
                </c:pt>
                <c:pt idx="10">
                  <c:v>97.629621258128509</c:v>
                </c:pt>
                <c:pt idx="11">
                  <c:v>151.87495674239472</c:v>
                </c:pt>
                <c:pt idx="12">
                  <c:v>155.7312388562739</c:v>
                </c:pt>
                <c:pt idx="13">
                  <c:v>164.51194040791327</c:v>
                </c:pt>
                <c:pt idx="14">
                  <c:v>152.39455179096416</c:v>
                </c:pt>
                <c:pt idx="15">
                  <c:v>162.37560112494975</c:v>
                </c:pt>
                <c:pt idx="16">
                  <c:v>108.80381082103628</c:v>
                </c:pt>
                <c:pt idx="17">
                  <c:v>99.361860015514225</c:v>
                </c:pt>
                <c:pt idx="18">
                  <c:v>98.405670970320131</c:v>
                </c:pt>
                <c:pt idx="19">
                  <c:v>122.04666592726043</c:v>
                </c:pt>
                <c:pt idx="20">
                  <c:v>105.12338564035713</c:v>
                </c:pt>
                <c:pt idx="21">
                  <c:v>104.6946665501668</c:v>
                </c:pt>
                <c:pt idx="22">
                  <c:v>96.848222420085222</c:v>
                </c:pt>
                <c:pt idx="23">
                  <c:v>112.39395128696093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2F85-41E5-B8B0-FAF51B8C3CFE}"/>
            </c:ext>
          </c:extLst>
        </c:ser>
        <c:ser>
          <c:idx val="2"/>
          <c:order val="2"/>
          <c:tx>
            <c:strRef>
              <c:f>'Анализ 1 сентября'!$D$3:$D$4</c:f>
              <c:strCache>
                <c:ptCount val="1"/>
                <c:pt idx="0">
                  <c:v>Ракетный б-р, 14к1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'Анализ 1 сентября'!$A$5:$A$29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'Анализ 1 сентября'!$D$5:$D$29</c:f>
              <c:numCache>
                <c:formatCode>0.00</c:formatCode>
                <c:ptCount val="24"/>
                <c:pt idx="0">
                  <c:v>96.191763466851285</c:v>
                </c:pt>
                <c:pt idx="1">
                  <c:v>98.923699772048337</c:v>
                </c:pt>
                <c:pt idx="2">
                  <c:v>88.127189909573644</c:v>
                </c:pt>
                <c:pt idx="3">
                  <c:v>83.718173347926722</c:v>
                </c:pt>
                <c:pt idx="4">
                  <c:v>96.796966756365322</c:v>
                </c:pt>
                <c:pt idx="5">
                  <c:v>92.736195063437606</c:v>
                </c:pt>
                <c:pt idx="6">
                  <c:v>103.7297684853053</c:v>
                </c:pt>
                <c:pt idx="7">
                  <c:v>71.293763483620509</c:v>
                </c:pt>
                <c:pt idx="8">
                  <c:v>89.874351004670771</c:v>
                </c:pt>
                <c:pt idx="9">
                  <c:v>76.593845298415729</c:v>
                </c:pt>
                <c:pt idx="10">
                  <c:v>75.575645894787158</c:v>
                </c:pt>
                <c:pt idx="11">
                  <c:v>92.981212574522942</c:v>
                </c:pt>
                <c:pt idx="12">
                  <c:v>80.630079174879938</c:v>
                </c:pt>
                <c:pt idx="13">
                  <c:v>79.552150428678615</c:v>
                </c:pt>
                <c:pt idx="14">
                  <c:v>103.82501608226448</c:v>
                </c:pt>
                <c:pt idx="15">
                  <c:v>95.764655700223827</c:v>
                </c:pt>
                <c:pt idx="16">
                  <c:v>85.787115662956154</c:v>
                </c:pt>
                <c:pt idx="17">
                  <c:v>100.35393512942112</c:v>
                </c:pt>
                <c:pt idx="18">
                  <c:v>108.9830854333584</c:v>
                </c:pt>
                <c:pt idx="19">
                  <c:v>131.7967217038225</c:v>
                </c:pt>
                <c:pt idx="20">
                  <c:v>110.87569734809222</c:v>
                </c:pt>
                <c:pt idx="21">
                  <c:v>141.06709118817977</c:v>
                </c:pt>
                <c:pt idx="22">
                  <c:v>131.30673950198232</c:v>
                </c:pt>
                <c:pt idx="23">
                  <c:v>138.6807914526234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2F85-41E5-B8B0-FAF51B8C3CFE}"/>
            </c:ext>
          </c:extLst>
        </c:ser>
        <c:ser>
          <c:idx val="3"/>
          <c:order val="3"/>
          <c:tx>
            <c:strRef>
              <c:f>'Анализ 1 сентября'!$E$3:$E$4</c:f>
              <c:strCache>
                <c:ptCount val="1"/>
                <c:pt idx="0">
                  <c:v>Симферопольский б-р, 22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'Анализ 1 сентября'!$A$5:$A$29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'Анализ 1 сентября'!$E$5:$E$29</c:f>
              <c:numCache>
                <c:formatCode>0.00</c:formatCode>
                <c:ptCount val="24"/>
                <c:pt idx="0">
                  <c:v>220.62057200819254</c:v>
                </c:pt>
                <c:pt idx="1">
                  <c:v>204.96410390761281</c:v>
                </c:pt>
                <c:pt idx="2">
                  <c:v>221.36091590106773</c:v>
                </c:pt>
                <c:pt idx="3">
                  <c:v>197.45958196165572</c:v>
                </c:pt>
                <c:pt idx="4">
                  <c:v>224.71267680735573</c:v>
                </c:pt>
                <c:pt idx="5">
                  <c:v>195.20977961186034</c:v>
                </c:pt>
                <c:pt idx="6">
                  <c:v>219.13856745609459</c:v>
                </c:pt>
                <c:pt idx="7">
                  <c:v>215.82051226403564</c:v>
                </c:pt>
                <c:pt idx="8">
                  <c:v>227.35399767689938</c:v>
                </c:pt>
                <c:pt idx="9">
                  <c:v>212.47934923241181</c:v>
                </c:pt>
                <c:pt idx="10">
                  <c:v>216.63862868603744</c:v>
                </c:pt>
                <c:pt idx="11">
                  <c:v>228.1377139716642</c:v>
                </c:pt>
                <c:pt idx="12">
                  <c:v>212.38955941728571</c:v>
                </c:pt>
                <c:pt idx="13">
                  <c:v>243.28885256778449</c:v>
                </c:pt>
                <c:pt idx="14">
                  <c:v>223.62056859260932</c:v>
                </c:pt>
                <c:pt idx="15">
                  <c:v>226.06843373909288</c:v>
                </c:pt>
                <c:pt idx="16">
                  <c:v>227.82689876330551</c:v>
                </c:pt>
                <c:pt idx="17">
                  <c:v>224.22886722820945</c:v>
                </c:pt>
                <c:pt idx="18">
                  <c:v>206.21106439809265</c:v>
                </c:pt>
                <c:pt idx="19">
                  <c:v>185.70843723602593</c:v>
                </c:pt>
                <c:pt idx="20">
                  <c:v>213.54483874336651</c:v>
                </c:pt>
                <c:pt idx="21">
                  <c:v>240.09581529335784</c:v>
                </c:pt>
                <c:pt idx="22">
                  <c:v>223.10670610517263</c:v>
                </c:pt>
                <c:pt idx="23">
                  <c:v>236.15579103352502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2F85-41E5-B8B0-FAF51B8C3CFE}"/>
            </c:ext>
          </c:extLst>
        </c:ser>
        <c:ser>
          <c:idx val="4"/>
          <c:order val="4"/>
          <c:tx>
            <c:strRef>
              <c:f>'Анализ 1 сентября'!$F$3:$F$4</c:f>
              <c:strCache>
                <c:ptCount val="1"/>
                <c:pt idx="0">
                  <c:v>ул. Щорса, 26/3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Pt>
            <c:idx val="0"/>
            <c:marker>
              <c:symbol val="none"/>
            </c:marker>
            <c:bubble3D val="0"/>
            <c:spPr>
              <a:ln w="28575" cap="rnd">
                <a:solidFill>
                  <a:schemeClr val="accent5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2F85-41E5-B8B0-FAF51B8C3CFE}"/>
              </c:ext>
            </c:extLst>
          </c:dPt>
          <c:dPt>
            <c:idx val="3"/>
            <c:marker>
              <c:symbol val="none"/>
            </c:marker>
            <c:bubble3D val="0"/>
            <c:spPr>
              <a:ln w="28575" cap="rnd">
                <a:solidFill>
                  <a:schemeClr val="accent5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B-2F85-41E5-B8B0-FAF51B8C3CFE}"/>
              </c:ext>
            </c:extLst>
          </c:dPt>
          <c:dPt>
            <c:idx val="5"/>
            <c:marker>
              <c:symbol val="none"/>
            </c:marker>
            <c:bubble3D val="0"/>
            <c:spPr>
              <a:ln w="28575" cap="rnd">
                <a:solidFill>
                  <a:schemeClr val="accent5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D-2F85-41E5-B8B0-FAF51B8C3CFE}"/>
              </c:ext>
            </c:extLst>
          </c:dPt>
          <c:dPt>
            <c:idx val="7"/>
            <c:marker>
              <c:symbol val="none"/>
            </c:marker>
            <c:bubble3D val="0"/>
            <c:spPr>
              <a:ln w="28575" cap="rnd">
                <a:solidFill>
                  <a:schemeClr val="accent5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F-2F85-41E5-B8B0-FAF51B8C3CFE}"/>
              </c:ext>
            </c:extLst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F85-41E5-B8B0-FAF51B8C3CFE}"/>
                </c:ext>
              </c:extLst>
            </c:dLbl>
            <c:dLbl>
              <c:idx val="3"/>
              <c:layout>
                <c:manualLayout>
                  <c:x val="-3.2665181885671891E-2"/>
                  <c:y val="-2.222222654267070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F85-41E5-B8B0-FAF51B8C3CFE}"/>
                </c:ext>
              </c:extLst>
            </c:dLbl>
            <c:dLbl>
              <c:idx val="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F85-41E5-B8B0-FAF51B8C3CFE}"/>
                </c:ext>
              </c:extLst>
            </c:dLbl>
            <c:dLbl>
              <c:idx val="7"/>
              <c:layout>
                <c:manualLayout>
                  <c:x val="-5.3452115812917596E-2"/>
                  <c:y val="4.938272565037924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2F85-41E5-B8B0-FAF51B8C3CFE}"/>
                </c:ext>
              </c:extLst>
            </c:dLbl>
            <c:spPr>
              <a:solidFill>
                <a:schemeClr val="accent1">
                  <a:lumMod val="60000"/>
                  <a:lumOff val="40000"/>
                  <a:alpha val="5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'Анализ 1 сентября'!$A$5:$A$29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'Анализ 1 сентября'!$F$5:$F$29</c:f>
              <c:numCache>
                <c:formatCode>0.00</c:formatCode>
                <c:ptCount val="24"/>
                <c:pt idx="0">
                  <c:v>144.2157665317479</c:v>
                </c:pt>
                <c:pt idx="1">
                  <c:v>126.90396837831941</c:v>
                </c:pt>
                <c:pt idx="2">
                  <c:v>128.80592484725639</c:v>
                </c:pt>
                <c:pt idx="3">
                  <c:v>257.67098882206483</c:v>
                </c:pt>
                <c:pt idx="4">
                  <c:v>183.63044598781681</c:v>
                </c:pt>
                <c:pt idx="5">
                  <c:v>287.76392666331958</c:v>
                </c:pt>
                <c:pt idx="6">
                  <c:v>218.7712519130898</c:v>
                </c:pt>
                <c:pt idx="7">
                  <c:v>138.80676475058937</c:v>
                </c:pt>
                <c:pt idx="8">
                  <c:v>147.88707348983735</c:v>
                </c:pt>
                <c:pt idx="9">
                  <c:v>148.67805009707808</c:v>
                </c:pt>
                <c:pt idx="10">
                  <c:v>143.25941399005907</c:v>
                </c:pt>
                <c:pt idx="11">
                  <c:v>131.28065239516613</c:v>
                </c:pt>
                <c:pt idx="12">
                  <c:v>138.66500442428514</c:v>
                </c:pt>
                <c:pt idx="13">
                  <c:v>136.430150891674</c:v>
                </c:pt>
                <c:pt idx="14">
                  <c:v>136.04584586994841</c:v>
                </c:pt>
                <c:pt idx="15">
                  <c:v>134.5910629822298</c:v>
                </c:pt>
                <c:pt idx="16">
                  <c:v>155.28822427382693</c:v>
                </c:pt>
                <c:pt idx="17">
                  <c:v>136.43725179426838</c:v>
                </c:pt>
                <c:pt idx="18">
                  <c:v>157.17893237914805</c:v>
                </c:pt>
                <c:pt idx="19">
                  <c:v>127.99031683654688</c:v>
                </c:pt>
                <c:pt idx="20">
                  <c:v>168.69327854972494</c:v>
                </c:pt>
                <c:pt idx="21">
                  <c:v>146.66882445177944</c:v>
                </c:pt>
                <c:pt idx="22">
                  <c:v>165.48762260254745</c:v>
                </c:pt>
                <c:pt idx="23">
                  <c:v>155.28277886280028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0-2F85-41E5-B8B0-FAF51B8C3C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33144991"/>
        <c:axId val="2133144159"/>
      </c:lineChart>
      <c:catAx>
        <c:axId val="213314499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Часы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133144159"/>
        <c:crosses val="autoZero"/>
        <c:auto val="1"/>
        <c:lblAlgn val="ctr"/>
        <c:lblOffset val="100"/>
        <c:noMultiLvlLbl val="0"/>
      </c:catAx>
      <c:valAx>
        <c:axId val="2133144159"/>
        <c:scaling>
          <c:orientation val="minMax"/>
          <c:max val="3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Средняя длительность транзакции(сек)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1331449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[17 10_19_14678a2ea21f1305.77009604Воркшопexcel0version1Сотникова.xlsb (2).xlsx]Анализ 1 сентября!Сводная таблица2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Количество транзакций по адресам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alpha val="39000"/>
              </a:schemeClr>
            </a:solidFill>
            <a:ln>
              <a:solidFill>
                <a:schemeClr val="accent1">
                  <a:alpha val="96000"/>
                </a:schemeClr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2">
                <a:lumMod val="60000"/>
                <a:lumOff val="40000"/>
                <a:alpha val="52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5.2980132450331181E-2"/>
              <c:y val="-9.9317194289261553E-3"/>
            </c:manualLayout>
          </c:layout>
          <c:spPr>
            <a:solidFill>
              <a:schemeClr val="accent1">
                <a:alpha val="39000"/>
              </a:schemeClr>
            </a:solidFill>
            <a:ln>
              <a:solidFill>
                <a:schemeClr val="accent1">
                  <a:alpha val="96000"/>
                </a:schemeClr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alpha val="39000"/>
              </a:schemeClr>
            </a:solidFill>
            <a:ln>
              <a:solidFill>
                <a:schemeClr val="accent1">
                  <a:alpha val="96000"/>
                </a:schemeClr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alpha val="39000"/>
              </a:schemeClr>
            </a:solidFill>
            <a:ln>
              <a:solidFill>
                <a:schemeClr val="accent1">
                  <a:alpha val="96000"/>
                </a:schemeClr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3.9735099337748346E-2"/>
              <c:y val="1.2414649286157667E-2"/>
            </c:manualLayout>
          </c:layout>
          <c:spPr>
            <a:solidFill>
              <a:schemeClr val="accent1">
                <a:alpha val="39000"/>
              </a:schemeClr>
            </a:solidFill>
            <a:ln>
              <a:solidFill>
                <a:schemeClr val="accent1">
                  <a:alpha val="96000"/>
                </a:schemeClr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3.6791758646063336E-2"/>
              <c:y val="-1.2414649286157667E-2"/>
            </c:manualLayout>
          </c:layout>
          <c:spPr>
            <a:solidFill>
              <a:schemeClr val="accent2">
                <a:lumMod val="60000"/>
                <a:lumOff val="40000"/>
                <a:alpha val="52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7.3583517292125488E-3"/>
              <c:y val="-1.4897579143389291E-2"/>
            </c:manualLayout>
          </c:layout>
          <c:spPr>
            <a:solidFill>
              <a:schemeClr val="accent2">
                <a:lumMod val="60000"/>
                <a:lumOff val="40000"/>
                <a:alpha val="52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2">
                <a:lumMod val="60000"/>
                <a:lumOff val="40000"/>
                <a:alpha val="52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2">
                <a:lumMod val="60000"/>
                <a:lumOff val="40000"/>
                <a:alpha val="52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alpha val="39000"/>
              </a:schemeClr>
            </a:solidFill>
            <a:ln>
              <a:solidFill>
                <a:schemeClr val="accent1">
                  <a:alpha val="96000"/>
                </a:schemeClr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alpha val="39000"/>
              </a:schemeClr>
            </a:solidFill>
            <a:ln>
              <a:solidFill>
                <a:schemeClr val="accent1">
                  <a:alpha val="96000"/>
                </a:schemeClr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5.2980132450331181E-2"/>
              <c:y val="-9.9317194289261553E-3"/>
            </c:manualLayout>
          </c:layout>
          <c:spPr>
            <a:solidFill>
              <a:schemeClr val="accent1">
                <a:alpha val="39000"/>
              </a:schemeClr>
            </a:solidFill>
            <a:ln>
              <a:solidFill>
                <a:schemeClr val="accent1">
                  <a:alpha val="96000"/>
                </a:schemeClr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alpha val="39000"/>
              </a:schemeClr>
            </a:solidFill>
            <a:ln>
              <a:solidFill>
                <a:schemeClr val="accent1">
                  <a:alpha val="96000"/>
                </a:schemeClr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3.9735099337748346E-2"/>
              <c:y val="1.2414649286157667E-2"/>
            </c:manualLayout>
          </c:layout>
          <c:spPr>
            <a:solidFill>
              <a:schemeClr val="accent1">
                <a:alpha val="39000"/>
              </a:schemeClr>
            </a:solidFill>
            <a:ln>
              <a:solidFill>
                <a:schemeClr val="accent1">
                  <a:alpha val="96000"/>
                </a:schemeClr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2">
                <a:lumMod val="60000"/>
                <a:lumOff val="40000"/>
                <a:alpha val="52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3.6791758646063336E-2"/>
              <c:y val="-1.2414649286157667E-2"/>
            </c:manualLayout>
          </c:layout>
          <c:spPr>
            <a:solidFill>
              <a:schemeClr val="accent2">
                <a:lumMod val="60000"/>
                <a:lumOff val="40000"/>
                <a:alpha val="52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7.3583517292125488E-3"/>
              <c:y val="-1.4897579143389291E-2"/>
            </c:manualLayout>
          </c:layout>
          <c:spPr>
            <a:solidFill>
              <a:schemeClr val="accent2">
                <a:lumMod val="60000"/>
                <a:lumOff val="40000"/>
                <a:alpha val="52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2">
                <a:lumMod val="60000"/>
                <a:lumOff val="40000"/>
                <a:alpha val="52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2">
                <a:lumMod val="60000"/>
                <a:lumOff val="40000"/>
                <a:alpha val="52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alpha val="39000"/>
              </a:schemeClr>
            </a:solidFill>
            <a:ln>
              <a:solidFill>
                <a:schemeClr val="accent1">
                  <a:alpha val="96000"/>
                </a:schemeClr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alpha val="39000"/>
              </a:schemeClr>
            </a:solidFill>
            <a:ln>
              <a:solidFill>
                <a:schemeClr val="accent1">
                  <a:alpha val="96000"/>
                </a:schemeClr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5.2980132450331181E-2"/>
              <c:y val="-9.9317194289261553E-3"/>
            </c:manualLayout>
          </c:layout>
          <c:spPr>
            <a:solidFill>
              <a:schemeClr val="accent1">
                <a:alpha val="39000"/>
              </a:schemeClr>
            </a:solidFill>
            <a:ln>
              <a:solidFill>
                <a:schemeClr val="accent1">
                  <a:alpha val="96000"/>
                </a:schemeClr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alpha val="39000"/>
              </a:schemeClr>
            </a:solidFill>
            <a:ln>
              <a:solidFill>
                <a:schemeClr val="accent1">
                  <a:alpha val="96000"/>
                </a:schemeClr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3.9735099337748346E-2"/>
              <c:y val="1.2414649286157667E-2"/>
            </c:manualLayout>
          </c:layout>
          <c:spPr>
            <a:solidFill>
              <a:schemeClr val="accent1">
                <a:alpha val="39000"/>
              </a:schemeClr>
            </a:solidFill>
            <a:ln>
              <a:solidFill>
                <a:schemeClr val="accent1">
                  <a:alpha val="96000"/>
                </a:schemeClr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2">
                <a:lumMod val="60000"/>
                <a:lumOff val="40000"/>
                <a:alpha val="52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3.6791758646063336E-2"/>
              <c:y val="-1.2414649286157667E-2"/>
            </c:manualLayout>
          </c:layout>
          <c:spPr>
            <a:solidFill>
              <a:schemeClr val="accent2">
                <a:lumMod val="60000"/>
                <a:lumOff val="40000"/>
                <a:alpha val="52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7.3583517292125488E-3"/>
              <c:y val="-1.4897579143389291E-2"/>
            </c:manualLayout>
          </c:layout>
          <c:spPr>
            <a:solidFill>
              <a:schemeClr val="accent2">
                <a:lumMod val="60000"/>
                <a:lumOff val="40000"/>
                <a:alpha val="52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2">
                <a:lumMod val="60000"/>
                <a:lumOff val="40000"/>
                <a:alpha val="52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2">
                <a:lumMod val="60000"/>
                <a:lumOff val="40000"/>
                <a:alpha val="52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7.040438529254639E-2"/>
          <c:y val="0.19031422748134136"/>
          <c:w val="0.70910145634450561"/>
          <c:h val="0.65032429605517184"/>
        </c:manualLayout>
      </c:layout>
      <c:lineChart>
        <c:grouping val="standard"/>
        <c:varyColors val="0"/>
        <c:ser>
          <c:idx val="0"/>
          <c:order val="0"/>
          <c:tx>
            <c:strRef>
              <c:f>'Анализ 1 сентября'!$B$34:$B$35</c:f>
              <c:strCache>
                <c:ptCount val="1"/>
                <c:pt idx="0">
                  <c:v>Ленинский пр-т, 162/1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Pt>
            <c:idx val="12"/>
            <c:marker>
              <c:symbol val="none"/>
            </c:marker>
            <c:bubble3D val="0"/>
            <c:spPr>
              <a:ln w="28575" cap="rnd">
                <a:solidFill>
                  <a:schemeClr val="accen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A6-44AC-B70F-AB7AE049F151}"/>
              </c:ext>
            </c:extLst>
          </c:dPt>
          <c:dPt>
            <c:idx val="14"/>
            <c:marker>
              <c:symbol val="none"/>
            </c:marker>
            <c:bubble3D val="0"/>
            <c:spPr>
              <a:ln w="28575" cap="rnd">
                <a:solidFill>
                  <a:schemeClr val="accen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A6-44AC-B70F-AB7AE049F151}"/>
              </c:ext>
            </c:extLst>
          </c:dPt>
          <c:dPt>
            <c:idx val="15"/>
            <c:marker>
              <c:symbol val="none"/>
            </c:marker>
            <c:bubble3D val="0"/>
            <c:spPr>
              <a:ln w="28575" cap="rnd">
                <a:solidFill>
                  <a:schemeClr val="accen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25A6-44AC-B70F-AB7AE049F151}"/>
              </c:ext>
            </c:extLst>
          </c:dPt>
          <c:dPt>
            <c:idx val="16"/>
            <c:marker>
              <c:symbol val="none"/>
            </c:marker>
            <c:bubble3D val="0"/>
            <c:spPr>
              <a:ln w="28575" cap="rnd">
                <a:solidFill>
                  <a:schemeClr val="accen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25A6-44AC-B70F-AB7AE049F151}"/>
              </c:ext>
            </c:extLst>
          </c:dPt>
          <c:dLbls>
            <c:dLbl>
              <c:idx val="1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5A6-44AC-B70F-AB7AE049F151}"/>
                </c:ext>
              </c:extLst>
            </c:dLbl>
            <c:dLbl>
              <c:idx val="14"/>
              <c:layout>
                <c:manualLayout>
                  <c:x val="-5.2980132450331181E-2"/>
                  <c:y val="-9.931719428926155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5A6-44AC-B70F-AB7AE049F151}"/>
                </c:ext>
              </c:extLst>
            </c:dLbl>
            <c:dLbl>
              <c:idx val="1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5A6-44AC-B70F-AB7AE049F151}"/>
                </c:ext>
              </c:extLst>
            </c:dLbl>
            <c:dLbl>
              <c:idx val="16"/>
              <c:layout>
                <c:manualLayout>
                  <c:x val="-3.9735099337748346E-2"/>
                  <c:y val="1.24146492861576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5A6-44AC-B70F-AB7AE049F151}"/>
                </c:ext>
              </c:extLst>
            </c:dLbl>
            <c:spPr>
              <a:solidFill>
                <a:schemeClr val="accent1">
                  <a:alpha val="39000"/>
                </a:schemeClr>
              </a:solidFill>
              <a:ln>
                <a:solidFill>
                  <a:schemeClr val="accent1">
                    <a:alpha val="96000"/>
                  </a:schemeClr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'Анализ 1 сентября'!$A$36:$A$60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'Анализ 1 сентября'!$B$36:$B$60</c:f>
              <c:numCache>
                <c:formatCode>General</c:formatCode>
                <c:ptCount val="24"/>
                <c:pt idx="0">
                  <c:v>119</c:v>
                </c:pt>
                <c:pt idx="1">
                  <c:v>97</c:v>
                </c:pt>
                <c:pt idx="2">
                  <c:v>95</c:v>
                </c:pt>
                <c:pt idx="3">
                  <c:v>84</c:v>
                </c:pt>
                <c:pt idx="4">
                  <c:v>110</c:v>
                </c:pt>
                <c:pt idx="5">
                  <c:v>92</c:v>
                </c:pt>
                <c:pt idx="6">
                  <c:v>120</c:v>
                </c:pt>
                <c:pt idx="7">
                  <c:v>114</c:v>
                </c:pt>
                <c:pt idx="8">
                  <c:v>117</c:v>
                </c:pt>
                <c:pt idx="9">
                  <c:v>106</c:v>
                </c:pt>
                <c:pt idx="10">
                  <c:v>115</c:v>
                </c:pt>
                <c:pt idx="11">
                  <c:v>134</c:v>
                </c:pt>
                <c:pt idx="12">
                  <c:v>120</c:v>
                </c:pt>
                <c:pt idx="13">
                  <c:v>147</c:v>
                </c:pt>
                <c:pt idx="14">
                  <c:v>170</c:v>
                </c:pt>
                <c:pt idx="15">
                  <c:v>165</c:v>
                </c:pt>
                <c:pt idx="16">
                  <c:v>113</c:v>
                </c:pt>
                <c:pt idx="17">
                  <c:v>107</c:v>
                </c:pt>
                <c:pt idx="18">
                  <c:v>117</c:v>
                </c:pt>
                <c:pt idx="19">
                  <c:v>110</c:v>
                </c:pt>
                <c:pt idx="20">
                  <c:v>95</c:v>
                </c:pt>
                <c:pt idx="21">
                  <c:v>117</c:v>
                </c:pt>
                <c:pt idx="22">
                  <c:v>109</c:v>
                </c:pt>
                <c:pt idx="23">
                  <c:v>102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25A6-44AC-B70F-AB7AE049F151}"/>
            </c:ext>
          </c:extLst>
        </c:ser>
        <c:ser>
          <c:idx val="1"/>
          <c:order val="1"/>
          <c:tx>
            <c:strRef>
              <c:f>'Анализ 1 сентября'!$C$34:$C$35</c:f>
              <c:strCache>
                <c:ptCount val="1"/>
                <c:pt idx="0">
                  <c:v>пр-т Вернадского, 88к3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Pt>
            <c:idx val="11"/>
            <c:marker>
              <c:symbol val="none"/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A-25A6-44AC-B70F-AB7AE049F151}"/>
              </c:ext>
            </c:extLst>
          </c:dPt>
          <c:dPt>
            <c:idx val="12"/>
            <c:marker>
              <c:symbol val="none"/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C-25A6-44AC-B70F-AB7AE049F151}"/>
              </c:ext>
            </c:extLst>
          </c:dPt>
          <c:dPt>
            <c:idx val="14"/>
            <c:marker>
              <c:symbol val="none"/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E-25A6-44AC-B70F-AB7AE049F151}"/>
              </c:ext>
            </c:extLst>
          </c:dPt>
          <c:dPt>
            <c:idx val="15"/>
            <c:marker>
              <c:symbol val="none"/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0-25A6-44AC-B70F-AB7AE049F151}"/>
              </c:ext>
            </c:extLst>
          </c:dPt>
          <c:dLbls>
            <c:dLbl>
              <c:idx val="11"/>
              <c:layout>
                <c:manualLayout>
                  <c:x val="-3.6791758646063336E-2"/>
                  <c:y val="-1.24146492861576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5A6-44AC-B70F-AB7AE049F151}"/>
                </c:ext>
              </c:extLst>
            </c:dLbl>
            <c:dLbl>
              <c:idx val="12"/>
              <c:layout>
                <c:manualLayout>
                  <c:x val="7.3583517292125488E-3"/>
                  <c:y val="-1.48975791433892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5A6-44AC-B70F-AB7AE049F151}"/>
                </c:ext>
              </c:extLst>
            </c:dLbl>
            <c:dLbl>
              <c:idx val="1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5A6-44AC-B70F-AB7AE049F151}"/>
                </c:ext>
              </c:extLst>
            </c:dLbl>
            <c:dLbl>
              <c:idx val="1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25A6-44AC-B70F-AB7AE049F151}"/>
                </c:ext>
              </c:extLst>
            </c:dLbl>
            <c:spPr>
              <a:solidFill>
                <a:schemeClr val="accent2">
                  <a:lumMod val="60000"/>
                  <a:lumOff val="40000"/>
                  <a:alpha val="52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'Анализ 1 сентября'!$A$36:$A$60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'Анализ 1 сентября'!$C$36:$C$60</c:f>
              <c:numCache>
                <c:formatCode>General</c:formatCode>
                <c:ptCount val="24"/>
                <c:pt idx="0">
                  <c:v>63</c:v>
                </c:pt>
                <c:pt idx="1">
                  <c:v>66</c:v>
                </c:pt>
                <c:pt idx="2">
                  <c:v>57</c:v>
                </c:pt>
                <c:pt idx="3">
                  <c:v>50</c:v>
                </c:pt>
                <c:pt idx="4">
                  <c:v>53</c:v>
                </c:pt>
                <c:pt idx="5">
                  <c:v>57</c:v>
                </c:pt>
                <c:pt idx="6">
                  <c:v>69</c:v>
                </c:pt>
                <c:pt idx="7">
                  <c:v>66</c:v>
                </c:pt>
                <c:pt idx="8">
                  <c:v>71</c:v>
                </c:pt>
                <c:pt idx="9">
                  <c:v>67</c:v>
                </c:pt>
                <c:pt idx="10">
                  <c:v>53</c:v>
                </c:pt>
                <c:pt idx="11">
                  <c:v>90</c:v>
                </c:pt>
                <c:pt idx="12">
                  <c:v>92</c:v>
                </c:pt>
                <c:pt idx="13">
                  <c:v>86</c:v>
                </c:pt>
                <c:pt idx="14">
                  <c:v>78</c:v>
                </c:pt>
                <c:pt idx="15">
                  <c:v>90</c:v>
                </c:pt>
                <c:pt idx="16">
                  <c:v>69</c:v>
                </c:pt>
                <c:pt idx="17">
                  <c:v>66</c:v>
                </c:pt>
                <c:pt idx="18">
                  <c:v>65</c:v>
                </c:pt>
                <c:pt idx="19">
                  <c:v>76</c:v>
                </c:pt>
                <c:pt idx="20">
                  <c:v>77</c:v>
                </c:pt>
                <c:pt idx="21">
                  <c:v>71</c:v>
                </c:pt>
                <c:pt idx="22">
                  <c:v>90</c:v>
                </c:pt>
                <c:pt idx="23">
                  <c:v>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1-25A6-44AC-B70F-AB7AE049F151}"/>
            </c:ext>
          </c:extLst>
        </c:ser>
        <c:ser>
          <c:idx val="2"/>
          <c:order val="2"/>
          <c:tx>
            <c:strRef>
              <c:f>'Анализ 1 сентября'!$D$34:$D$35</c:f>
              <c:strCache>
                <c:ptCount val="1"/>
                <c:pt idx="0">
                  <c:v>Ракетный б-р, 14к1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'Анализ 1 сентября'!$A$36:$A$60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'Анализ 1 сентября'!$D$36:$D$60</c:f>
              <c:numCache>
                <c:formatCode>General</c:formatCode>
                <c:ptCount val="24"/>
                <c:pt idx="0">
                  <c:v>49</c:v>
                </c:pt>
                <c:pt idx="1">
                  <c:v>74</c:v>
                </c:pt>
                <c:pt idx="2">
                  <c:v>54</c:v>
                </c:pt>
                <c:pt idx="3">
                  <c:v>49</c:v>
                </c:pt>
                <c:pt idx="4">
                  <c:v>51</c:v>
                </c:pt>
                <c:pt idx="5">
                  <c:v>51</c:v>
                </c:pt>
                <c:pt idx="6">
                  <c:v>53</c:v>
                </c:pt>
                <c:pt idx="7">
                  <c:v>55</c:v>
                </c:pt>
                <c:pt idx="8">
                  <c:v>63</c:v>
                </c:pt>
                <c:pt idx="9">
                  <c:v>57</c:v>
                </c:pt>
                <c:pt idx="10">
                  <c:v>64</c:v>
                </c:pt>
                <c:pt idx="11">
                  <c:v>72</c:v>
                </c:pt>
                <c:pt idx="12">
                  <c:v>60</c:v>
                </c:pt>
                <c:pt idx="13">
                  <c:v>51</c:v>
                </c:pt>
                <c:pt idx="14">
                  <c:v>65</c:v>
                </c:pt>
                <c:pt idx="15">
                  <c:v>62</c:v>
                </c:pt>
                <c:pt idx="16">
                  <c:v>53</c:v>
                </c:pt>
                <c:pt idx="17">
                  <c:v>52</c:v>
                </c:pt>
                <c:pt idx="18">
                  <c:v>58</c:v>
                </c:pt>
                <c:pt idx="19">
                  <c:v>58</c:v>
                </c:pt>
                <c:pt idx="20">
                  <c:v>64</c:v>
                </c:pt>
                <c:pt idx="21">
                  <c:v>61</c:v>
                </c:pt>
                <c:pt idx="22">
                  <c:v>74</c:v>
                </c:pt>
                <c:pt idx="23">
                  <c:v>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2-25A6-44AC-B70F-AB7AE049F151}"/>
            </c:ext>
          </c:extLst>
        </c:ser>
        <c:ser>
          <c:idx val="3"/>
          <c:order val="3"/>
          <c:tx>
            <c:strRef>
              <c:f>'Анализ 1 сентября'!$E$34:$E$35</c:f>
              <c:strCache>
                <c:ptCount val="1"/>
                <c:pt idx="0">
                  <c:v>Симферопольский б-р, 22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'Анализ 1 сентября'!$A$36:$A$60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'Анализ 1 сентября'!$E$36:$E$60</c:f>
              <c:numCache>
                <c:formatCode>General</c:formatCode>
                <c:ptCount val="24"/>
                <c:pt idx="0">
                  <c:v>27</c:v>
                </c:pt>
                <c:pt idx="1">
                  <c:v>35</c:v>
                </c:pt>
                <c:pt idx="2">
                  <c:v>26</c:v>
                </c:pt>
                <c:pt idx="3">
                  <c:v>28</c:v>
                </c:pt>
                <c:pt idx="4">
                  <c:v>38</c:v>
                </c:pt>
                <c:pt idx="5">
                  <c:v>26</c:v>
                </c:pt>
                <c:pt idx="6">
                  <c:v>37</c:v>
                </c:pt>
                <c:pt idx="7">
                  <c:v>30</c:v>
                </c:pt>
                <c:pt idx="8">
                  <c:v>35</c:v>
                </c:pt>
                <c:pt idx="9">
                  <c:v>35</c:v>
                </c:pt>
                <c:pt idx="10">
                  <c:v>44</c:v>
                </c:pt>
                <c:pt idx="11">
                  <c:v>40</c:v>
                </c:pt>
                <c:pt idx="12">
                  <c:v>33</c:v>
                </c:pt>
                <c:pt idx="13">
                  <c:v>45</c:v>
                </c:pt>
                <c:pt idx="14">
                  <c:v>33</c:v>
                </c:pt>
                <c:pt idx="15">
                  <c:v>49</c:v>
                </c:pt>
                <c:pt idx="16">
                  <c:v>32</c:v>
                </c:pt>
                <c:pt idx="17">
                  <c:v>42</c:v>
                </c:pt>
                <c:pt idx="18">
                  <c:v>38</c:v>
                </c:pt>
                <c:pt idx="19">
                  <c:v>30</c:v>
                </c:pt>
                <c:pt idx="20">
                  <c:v>34</c:v>
                </c:pt>
                <c:pt idx="21">
                  <c:v>35</c:v>
                </c:pt>
                <c:pt idx="22">
                  <c:v>45</c:v>
                </c:pt>
                <c:pt idx="23">
                  <c:v>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3-25A6-44AC-B70F-AB7AE049F151}"/>
            </c:ext>
          </c:extLst>
        </c:ser>
        <c:ser>
          <c:idx val="4"/>
          <c:order val="4"/>
          <c:tx>
            <c:strRef>
              <c:f>'Анализ 1 сентября'!$F$34:$F$35</c:f>
              <c:strCache>
                <c:ptCount val="1"/>
                <c:pt idx="0">
                  <c:v>ул. Щорса, 26/3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'Анализ 1 сентября'!$A$36:$A$60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'Анализ 1 сентября'!$F$36:$F$60</c:f>
              <c:numCache>
                <c:formatCode>General</c:formatCode>
                <c:ptCount val="24"/>
                <c:pt idx="0">
                  <c:v>42</c:v>
                </c:pt>
                <c:pt idx="1">
                  <c:v>40</c:v>
                </c:pt>
                <c:pt idx="2">
                  <c:v>54</c:v>
                </c:pt>
                <c:pt idx="3">
                  <c:v>32</c:v>
                </c:pt>
                <c:pt idx="4">
                  <c:v>37</c:v>
                </c:pt>
                <c:pt idx="5">
                  <c:v>48</c:v>
                </c:pt>
                <c:pt idx="6">
                  <c:v>53</c:v>
                </c:pt>
                <c:pt idx="7">
                  <c:v>49</c:v>
                </c:pt>
                <c:pt idx="8">
                  <c:v>45</c:v>
                </c:pt>
                <c:pt idx="9">
                  <c:v>48</c:v>
                </c:pt>
                <c:pt idx="10">
                  <c:v>35</c:v>
                </c:pt>
                <c:pt idx="11">
                  <c:v>46</c:v>
                </c:pt>
                <c:pt idx="12">
                  <c:v>50</c:v>
                </c:pt>
                <c:pt idx="13">
                  <c:v>47</c:v>
                </c:pt>
                <c:pt idx="14">
                  <c:v>47</c:v>
                </c:pt>
                <c:pt idx="15">
                  <c:v>47</c:v>
                </c:pt>
                <c:pt idx="16">
                  <c:v>60</c:v>
                </c:pt>
                <c:pt idx="17">
                  <c:v>56</c:v>
                </c:pt>
                <c:pt idx="18">
                  <c:v>44</c:v>
                </c:pt>
                <c:pt idx="19">
                  <c:v>51</c:v>
                </c:pt>
                <c:pt idx="20">
                  <c:v>46</c:v>
                </c:pt>
                <c:pt idx="21">
                  <c:v>57</c:v>
                </c:pt>
                <c:pt idx="22">
                  <c:v>41</c:v>
                </c:pt>
                <c:pt idx="23">
                  <c:v>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4-25A6-44AC-B70F-AB7AE049F1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35669967"/>
        <c:axId val="235663311"/>
      </c:lineChart>
      <c:catAx>
        <c:axId val="23566996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Часы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35663311"/>
        <c:crosses val="autoZero"/>
        <c:auto val="1"/>
        <c:lblAlgn val="ctr"/>
        <c:lblOffset val="100"/>
        <c:noMultiLvlLbl val="0"/>
      </c:catAx>
      <c:valAx>
        <c:axId val="2356633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356699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[17 10_19_14678a2ea21f1305.77009604Воркшопexcel0version1Сотникова.xlsb (2).xlsx]Анализ 1 сентября!Сводная таблица4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Средняя длительность транзакций по платежным системам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lumMod val="60000"/>
                <a:lumOff val="40000"/>
                <a:alpha val="34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2">
                <a:lumMod val="60000"/>
                <a:lumOff val="40000"/>
                <a:alpha val="47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3">
                <a:lumMod val="60000"/>
                <a:lumOff val="40000"/>
                <a:alpha val="66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3">
                <a:lumMod val="60000"/>
                <a:lumOff val="40000"/>
                <a:alpha val="66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lumMod val="60000"/>
                <a:lumOff val="40000"/>
                <a:alpha val="34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1.4847809948032665E-2"/>
              <c:y val="1.4897579143389109E-2"/>
            </c:manualLayout>
          </c:layout>
          <c:spPr>
            <a:solidFill>
              <a:schemeClr val="accent2">
                <a:lumMod val="60000"/>
                <a:lumOff val="40000"/>
                <a:alpha val="47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5.9391239792130658E-2"/>
              <c:y val="-2.9795158286778353E-2"/>
            </c:manualLayout>
          </c:layout>
          <c:spPr>
            <a:solidFill>
              <a:schemeClr val="accent2">
                <a:lumMod val="60000"/>
                <a:lumOff val="40000"/>
                <a:alpha val="47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6.8299925760950314E-2"/>
              <c:y val="-2.7312228429546864E-2"/>
            </c:manualLayout>
          </c:layout>
          <c:spPr>
            <a:solidFill>
              <a:schemeClr val="accent3">
                <a:lumMod val="60000"/>
                <a:lumOff val="40000"/>
                <a:alpha val="66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1.7817371937639197E-2"/>
              <c:y val="-1.2414649286157712E-2"/>
            </c:manualLayout>
          </c:layout>
          <c:spPr>
            <a:solidFill>
              <a:schemeClr val="accent1">
                <a:lumMod val="60000"/>
                <a:lumOff val="40000"/>
                <a:alpha val="34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2">
                <a:lumMod val="60000"/>
                <a:lumOff val="40000"/>
                <a:alpha val="47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2">
                <a:lumMod val="60000"/>
                <a:lumOff val="40000"/>
                <a:alpha val="47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4.4543429844097994E-3"/>
              <c:y val="1.2414649286157667E-2"/>
            </c:manualLayout>
          </c:layout>
          <c:spPr>
            <a:solidFill>
              <a:schemeClr val="accent2">
                <a:lumMod val="60000"/>
                <a:lumOff val="40000"/>
                <a:alpha val="47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6.6815144766147E-2"/>
              <c:y val="-7.4487895716945996E-3"/>
            </c:manualLayout>
          </c:layout>
          <c:spPr>
            <a:solidFill>
              <a:schemeClr val="accent1">
                <a:lumMod val="60000"/>
                <a:lumOff val="40000"/>
                <a:alpha val="34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lumMod val="60000"/>
                <a:lumOff val="40000"/>
                <a:alpha val="34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lumMod val="60000"/>
                <a:lumOff val="40000"/>
                <a:alpha val="34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4.4543429844097994E-3"/>
              <c:y val="-7.4487895716945996E-3"/>
            </c:manualLayout>
          </c:layout>
          <c:spPr>
            <a:solidFill>
              <a:schemeClr val="accent3">
                <a:lumMod val="60000"/>
                <a:lumOff val="40000"/>
                <a:alpha val="66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lumMod val="60000"/>
                <a:lumOff val="40000"/>
                <a:alpha val="34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lumMod val="60000"/>
                <a:lumOff val="40000"/>
                <a:alpha val="34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1.7817371937639197E-2"/>
              <c:y val="-1.2414649286157712E-2"/>
            </c:manualLayout>
          </c:layout>
          <c:spPr>
            <a:solidFill>
              <a:schemeClr val="accent1">
                <a:lumMod val="60000"/>
                <a:lumOff val="40000"/>
                <a:alpha val="34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6.6815144766147E-2"/>
              <c:y val="-7.4487895716945996E-3"/>
            </c:manualLayout>
          </c:layout>
          <c:spPr>
            <a:solidFill>
              <a:schemeClr val="accent1">
                <a:lumMod val="60000"/>
                <a:lumOff val="40000"/>
                <a:alpha val="34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lumMod val="60000"/>
                <a:lumOff val="40000"/>
                <a:alpha val="34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lumMod val="60000"/>
                <a:lumOff val="40000"/>
                <a:alpha val="34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2">
                <a:lumMod val="60000"/>
                <a:lumOff val="40000"/>
                <a:alpha val="47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2">
                <a:lumMod val="60000"/>
                <a:lumOff val="40000"/>
                <a:alpha val="47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1.4847809948032665E-2"/>
              <c:y val="1.4897579143389109E-2"/>
            </c:manualLayout>
          </c:layout>
          <c:spPr>
            <a:solidFill>
              <a:schemeClr val="accent2">
                <a:lumMod val="60000"/>
                <a:lumOff val="40000"/>
                <a:alpha val="47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5.9391239792130658E-2"/>
              <c:y val="-2.9795158286778353E-2"/>
            </c:manualLayout>
          </c:layout>
          <c:spPr>
            <a:solidFill>
              <a:schemeClr val="accent2">
                <a:lumMod val="60000"/>
                <a:lumOff val="40000"/>
                <a:alpha val="47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2">
                <a:lumMod val="60000"/>
                <a:lumOff val="40000"/>
                <a:alpha val="47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4.4543429844097994E-3"/>
              <c:y val="1.2414649286157667E-2"/>
            </c:manualLayout>
          </c:layout>
          <c:spPr>
            <a:solidFill>
              <a:schemeClr val="accent2">
                <a:lumMod val="60000"/>
                <a:lumOff val="40000"/>
                <a:alpha val="47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3">
                <a:lumMod val="60000"/>
                <a:lumOff val="40000"/>
                <a:alpha val="66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 w="28575" cap="rnd">
            <a:solidFill>
              <a:schemeClr val="accent3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3">
                <a:lumMod val="60000"/>
                <a:lumOff val="40000"/>
                <a:alpha val="66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 w="28575" cap="rnd">
            <a:solidFill>
              <a:schemeClr val="accent3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6.8299925760950314E-2"/>
              <c:y val="-2.7312228429546864E-2"/>
            </c:manualLayout>
          </c:layout>
          <c:spPr>
            <a:solidFill>
              <a:schemeClr val="accent3">
                <a:lumMod val="60000"/>
                <a:lumOff val="40000"/>
                <a:alpha val="66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 w="28575" cap="rnd">
            <a:solidFill>
              <a:schemeClr val="accent3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4.4543429844097994E-3"/>
              <c:y val="-7.4487895716945996E-3"/>
            </c:manualLayout>
          </c:layout>
          <c:spPr>
            <a:solidFill>
              <a:schemeClr val="accent3">
                <a:lumMod val="60000"/>
                <a:lumOff val="40000"/>
                <a:alpha val="66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lumMod val="60000"/>
                <a:lumOff val="40000"/>
                <a:alpha val="34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lumMod val="60000"/>
                <a:lumOff val="40000"/>
                <a:alpha val="34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1.7817371937639197E-2"/>
              <c:y val="-1.2414649286157712E-2"/>
            </c:manualLayout>
          </c:layout>
          <c:spPr>
            <a:solidFill>
              <a:schemeClr val="accent1">
                <a:lumMod val="60000"/>
                <a:lumOff val="40000"/>
                <a:alpha val="34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6.6815144766147E-2"/>
              <c:y val="-7.4487895716945996E-3"/>
            </c:manualLayout>
          </c:layout>
          <c:spPr>
            <a:solidFill>
              <a:schemeClr val="accent1">
                <a:lumMod val="60000"/>
                <a:lumOff val="40000"/>
                <a:alpha val="34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lumMod val="60000"/>
                <a:lumOff val="40000"/>
                <a:alpha val="34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lumMod val="60000"/>
                <a:lumOff val="40000"/>
                <a:alpha val="34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2">
                <a:lumMod val="60000"/>
                <a:lumOff val="40000"/>
                <a:alpha val="47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2">
                <a:lumMod val="60000"/>
                <a:lumOff val="40000"/>
                <a:alpha val="47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1.4847809948032665E-2"/>
              <c:y val="1.4897579143389109E-2"/>
            </c:manualLayout>
          </c:layout>
          <c:spPr>
            <a:solidFill>
              <a:schemeClr val="accent2">
                <a:lumMod val="60000"/>
                <a:lumOff val="40000"/>
                <a:alpha val="47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5.9391239792130658E-2"/>
              <c:y val="-2.9795158286778353E-2"/>
            </c:manualLayout>
          </c:layout>
          <c:spPr>
            <a:solidFill>
              <a:schemeClr val="accent2">
                <a:lumMod val="60000"/>
                <a:lumOff val="40000"/>
                <a:alpha val="47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2">
                <a:lumMod val="60000"/>
                <a:lumOff val="40000"/>
                <a:alpha val="47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4.4543429844097994E-3"/>
              <c:y val="1.2414649286157667E-2"/>
            </c:manualLayout>
          </c:layout>
          <c:spPr>
            <a:solidFill>
              <a:schemeClr val="accent2">
                <a:lumMod val="60000"/>
                <a:lumOff val="40000"/>
                <a:alpha val="47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3">
                <a:lumMod val="60000"/>
                <a:lumOff val="40000"/>
                <a:alpha val="66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solidFill>
            <a:schemeClr val="accent1"/>
          </a:solidFill>
          <a:ln w="28575" cap="rnd">
            <a:solidFill>
              <a:schemeClr val="accent3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3">
                <a:lumMod val="60000"/>
                <a:lumOff val="40000"/>
                <a:alpha val="66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solidFill>
            <a:schemeClr val="accent1"/>
          </a:solidFill>
          <a:ln w="28575" cap="rnd">
            <a:solidFill>
              <a:schemeClr val="accent3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6.8299925760950314E-2"/>
              <c:y val="-2.7312228429546864E-2"/>
            </c:manualLayout>
          </c:layout>
          <c:spPr>
            <a:solidFill>
              <a:schemeClr val="accent3">
                <a:lumMod val="60000"/>
                <a:lumOff val="40000"/>
                <a:alpha val="66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solidFill>
            <a:schemeClr val="accent1"/>
          </a:solidFill>
          <a:ln w="28575" cap="rnd">
            <a:solidFill>
              <a:schemeClr val="accent3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4.4543429844097994E-3"/>
              <c:y val="-7.4487895716945996E-3"/>
            </c:manualLayout>
          </c:layout>
          <c:spPr>
            <a:solidFill>
              <a:schemeClr val="accent3">
                <a:lumMod val="60000"/>
                <a:lumOff val="40000"/>
                <a:alpha val="66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'Анализ 1 сентября'!$B$98:$B$99</c:f>
              <c:strCache>
                <c:ptCount val="1"/>
                <c:pt idx="0">
                  <c:v>MasterCard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Pt>
            <c:idx val="5"/>
            <c:marker>
              <c:symbol val="none"/>
            </c:marker>
            <c:bubble3D val="0"/>
            <c:spPr>
              <a:ln w="28575" cap="rnd">
                <a:solidFill>
                  <a:schemeClr val="accen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DC31-49AB-BA68-86595BCFC360}"/>
              </c:ext>
            </c:extLst>
          </c:dPt>
          <c:dPt>
            <c:idx val="14"/>
            <c:marker>
              <c:symbol val="none"/>
            </c:marker>
            <c:bubble3D val="0"/>
            <c:spPr>
              <a:ln w="28575" cap="rnd">
                <a:solidFill>
                  <a:schemeClr val="accen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DC31-49AB-BA68-86595BCFC360}"/>
              </c:ext>
            </c:extLst>
          </c:dPt>
          <c:dPt>
            <c:idx val="19"/>
            <c:marker>
              <c:symbol val="none"/>
            </c:marker>
            <c:bubble3D val="0"/>
            <c:spPr>
              <a:ln w="28575" cap="rnd">
                <a:solidFill>
                  <a:schemeClr val="accen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DC31-49AB-BA68-86595BCFC360}"/>
              </c:ext>
            </c:extLst>
          </c:dPt>
          <c:dPt>
            <c:idx val="20"/>
            <c:marker>
              <c:symbol val="none"/>
            </c:marker>
            <c:bubble3D val="0"/>
            <c:spPr>
              <a:ln w="28575" cap="rnd">
                <a:solidFill>
                  <a:schemeClr val="accen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DC31-49AB-BA68-86595BCFC360}"/>
              </c:ext>
            </c:extLst>
          </c:dPt>
          <c:dPt>
            <c:idx val="23"/>
            <c:marker>
              <c:symbol val="none"/>
            </c:marker>
            <c:bubble3D val="0"/>
            <c:spPr>
              <a:ln w="28575" cap="rnd">
                <a:solidFill>
                  <a:schemeClr val="accen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DC31-49AB-BA68-86595BCFC360}"/>
              </c:ext>
            </c:extLst>
          </c:dPt>
          <c:dLbls>
            <c:dLbl>
              <c:idx val="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C31-49AB-BA68-86595BCFC360}"/>
                </c:ext>
              </c:extLst>
            </c:dLbl>
            <c:dLbl>
              <c:idx val="14"/>
              <c:layout>
                <c:manualLayout>
                  <c:x val="1.7817371937639197E-2"/>
                  <c:y val="-1.24146492861577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C31-49AB-BA68-86595BCFC360}"/>
                </c:ext>
              </c:extLst>
            </c:dLbl>
            <c:dLbl>
              <c:idx val="19"/>
              <c:layout>
                <c:manualLayout>
                  <c:x val="-6.6815144766147E-2"/>
                  <c:y val="-7.448789571694599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C31-49AB-BA68-86595BCFC360}"/>
                </c:ext>
              </c:extLst>
            </c:dLbl>
            <c:dLbl>
              <c:idx val="2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C31-49AB-BA68-86595BCFC360}"/>
                </c:ext>
              </c:extLst>
            </c:dLbl>
            <c:dLbl>
              <c:idx val="2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C31-49AB-BA68-86595BCFC360}"/>
                </c:ext>
              </c:extLst>
            </c:dLbl>
            <c:spPr>
              <a:solidFill>
                <a:schemeClr val="accent1">
                  <a:lumMod val="60000"/>
                  <a:lumOff val="40000"/>
                  <a:alpha val="34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'Анализ 1 сентября'!$A$100:$A$124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'Анализ 1 сентября'!$B$100:$B$124</c:f>
              <c:numCache>
                <c:formatCode>0.00</c:formatCode>
                <c:ptCount val="24"/>
                <c:pt idx="0">
                  <c:v>98.004942738997016</c:v>
                </c:pt>
                <c:pt idx="1">
                  <c:v>104.50348966902024</c:v>
                </c:pt>
                <c:pt idx="2">
                  <c:v>106.63820033892989</c:v>
                </c:pt>
                <c:pt idx="3">
                  <c:v>105.07509346974835</c:v>
                </c:pt>
                <c:pt idx="4">
                  <c:v>109.98871595779013</c:v>
                </c:pt>
                <c:pt idx="5">
                  <c:v>136.83009870350361</c:v>
                </c:pt>
                <c:pt idx="6">
                  <c:v>121.09515341243853</c:v>
                </c:pt>
                <c:pt idx="7">
                  <c:v>111.68732674307545</c:v>
                </c:pt>
                <c:pt idx="8">
                  <c:v>122.78747376269446</c:v>
                </c:pt>
                <c:pt idx="9">
                  <c:v>103.87442401393359</c:v>
                </c:pt>
                <c:pt idx="10">
                  <c:v>97.818573527312012</c:v>
                </c:pt>
                <c:pt idx="11">
                  <c:v>152.14204047146569</c:v>
                </c:pt>
                <c:pt idx="12">
                  <c:v>144.9174364897892</c:v>
                </c:pt>
                <c:pt idx="13">
                  <c:v>153.34645864013584</c:v>
                </c:pt>
                <c:pt idx="14">
                  <c:v>161.04652635216459</c:v>
                </c:pt>
                <c:pt idx="15">
                  <c:v>156.1599844214206</c:v>
                </c:pt>
                <c:pt idx="16">
                  <c:v>109.99185800050887</c:v>
                </c:pt>
                <c:pt idx="17">
                  <c:v>108.34328806959093</c:v>
                </c:pt>
                <c:pt idx="18">
                  <c:v>128.29759712965989</c:v>
                </c:pt>
                <c:pt idx="19">
                  <c:v>145.87931551955521</c:v>
                </c:pt>
                <c:pt idx="20">
                  <c:v>153.02663714319351</c:v>
                </c:pt>
                <c:pt idx="21">
                  <c:v>136.87760263384706</c:v>
                </c:pt>
                <c:pt idx="22">
                  <c:v>135.73066582426154</c:v>
                </c:pt>
                <c:pt idx="23">
                  <c:v>160.97159491443375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DC31-49AB-BA68-86595BCFC360}"/>
            </c:ext>
          </c:extLst>
        </c:ser>
        <c:ser>
          <c:idx val="1"/>
          <c:order val="1"/>
          <c:tx>
            <c:strRef>
              <c:f>'Анализ 1 сентября'!$C$98:$C$99</c:f>
              <c:strCache>
                <c:ptCount val="1"/>
                <c:pt idx="0">
                  <c:v>Visa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Pt>
            <c:idx val="0"/>
            <c:marker>
              <c:symbol val="none"/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C-DC31-49AB-BA68-86595BCFC360}"/>
              </c:ext>
            </c:extLst>
          </c:dPt>
          <c:dPt>
            <c:idx val="5"/>
            <c:marker>
              <c:symbol val="none"/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E-DC31-49AB-BA68-86595BCFC360}"/>
              </c:ext>
            </c:extLst>
          </c:dPt>
          <c:dPt>
            <c:idx val="11"/>
            <c:marker>
              <c:symbol val="none"/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0-DC31-49AB-BA68-86595BCFC360}"/>
              </c:ext>
            </c:extLst>
          </c:dPt>
          <c:dPt>
            <c:idx val="13"/>
            <c:marker>
              <c:symbol val="none"/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2-DC31-49AB-BA68-86595BCFC360}"/>
              </c:ext>
            </c:extLst>
          </c:dPt>
          <c:dPt>
            <c:idx val="15"/>
            <c:marker>
              <c:symbol val="none"/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4-DC31-49AB-BA68-86595BCFC360}"/>
              </c:ext>
            </c:extLst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DC31-49AB-BA68-86595BCFC360}"/>
                </c:ext>
              </c:extLst>
            </c:dLbl>
            <c:dLbl>
              <c:idx val="5"/>
              <c:layout>
                <c:manualLayout>
                  <c:x val="1.4847809948032665E-2"/>
                  <c:y val="1.48975791433891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DC31-49AB-BA68-86595BCFC360}"/>
                </c:ext>
              </c:extLst>
            </c:dLbl>
            <c:dLbl>
              <c:idx val="11"/>
              <c:layout>
                <c:manualLayout>
                  <c:x val="-5.9391239792130658E-2"/>
                  <c:y val="-2.979515828677835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DC31-49AB-BA68-86595BCFC360}"/>
                </c:ext>
              </c:extLst>
            </c:dLbl>
            <c:dLbl>
              <c:idx val="1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DC31-49AB-BA68-86595BCFC360}"/>
                </c:ext>
              </c:extLst>
            </c:dLbl>
            <c:dLbl>
              <c:idx val="15"/>
              <c:layout>
                <c:manualLayout>
                  <c:x val="4.4543429844097994E-3"/>
                  <c:y val="1.24146492861576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DC31-49AB-BA68-86595BCFC360}"/>
                </c:ext>
              </c:extLst>
            </c:dLbl>
            <c:spPr>
              <a:solidFill>
                <a:schemeClr val="accent2">
                  <a:lumMod val="60000"/>
                  <a:lumOff val="40000"/>
                  <a:alpha val="47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'Анализ 1 сентября'!$A$100:$A$124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'Анализ 1 сентября'!$C$100:$C$124</c:f>
              <c:numCache>
                <c:formatCode>0.00</c:formatCode>
                <c:ptCount val="24"/>
                <c:pt idx="0">
                  <c:v>113.9331184584354</c:v>
                </c:pt>
                <c:pt idx="1">
                  <c:v>118.51813853942215</c:v>
                </c:pt>
                <c:pt idx="2">
                  <c:v>106.28921470564345</c:v>
                </c:pt>
                <c:pt idx="3">
                  <c:v>122.74794969940558</c:v>
                </c:pt>
                <c:pt idx="4">
                  <c:v>120.90261769535149</c:v>
                </c:pt>
                <c:pt idx="5">
                  <c:v>133.52976570505712</c:v>
                </c:pt>
                <c:pt idx="6">
                  <c:v>125.25377968268003</c:v>
                </c:pt>
                <c:pt idx="7">
                  <c:v>105.52373028282697</c:v>
                </c:pt>
                <c:pt idx="8">
                  <c:v>111.12034194321544</c:v>
                </c:pt>
                <c:pt idx="9">
                  <c:v>110.74600171757665</c:v>
                </c:pt>
                <c:pt idx="10">
                  <c:v>107.80457725307761</c:v>
                </c:pt>
                <c:pt idx="11">
                  <c:v>152.08407824366904</c:v>
                </c:pt>
                <c:pt idx="12">
                  <c:v>149.76138902303879</c:v>
                </c:pt>
                <c:pt idx="13">
                  <c:v>166.64078854600808</c:v>
                </c:pt>
                <c:pt idx="14">
                  <c:v>148.33432658670063</c:v>
                </c:pt>
                <c:pt idx="15">
                  <c:v>159.87263613443992</c:v>
                </c:pt>
                <c:pt idx="16">
                  <c:v>109.55382721005734</c:v>
                </c:pt>
                <c:pt idx="17">
                  <c:v>111.96749041449617</c:v>
                </c:pt>
                <c:pt idx="18">
                  <c:v>113.06782551270364</c:v>
                </c:pt>
                <c:pt idx="19">
                  <c:v>104.15490594127083</c:v>
                </c:pt>
                <c:pt idx="20">
                  <c:v>106.89762774152014</c:v>
                </c:pt>
                <c:pt idx="21">
                  <c:v>112.89883423057135</c:v>
                </c:pt>
                <c:pt idx="22">
                  <c:v>111.73753200564533</c:v>
                </c:pt>
                <c:pt idx="23">
                  <c:v>113.96886988826279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5-DC31-49AB-BA68-86595BCFC360}"/>
            </c:ext>
          </c:extLst>
        </c:ser>
        <c:ser>
          <c:idx val="2"/>
          <c:order val="2"/>
          <c:tx>
            <c:strRef>
              <c:f>'Анализ 1 сентября'!$D$98:$D$99</c:f>
              <c:strCache>
                <c:ptCount val="1"/>
                <c:pt idx="0">
                  <c:v>МИР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Pt>
            <c:idx val="3"/>
            <c:marker>
              <c:symbol val="none"/>
            </c:marker>
            <c:bubble3D val="0"/>
            <c:spPr>
              <a:ln w="28575" cap="rnd">
                <a:solidFill>
                  <a:schemeClr val="accent3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7-DC31-49AB-BA68-86595BCFC360}"/>
              </c:ext>
            </c:extLst>
          </c:dPt>
          <c:dPt>
            <c:idx val="12"/>
            <c:marker>
              <c:symbol val="none"/>
            </c:marker>
            <c:bubble3D val="0"/>
            <c:spPr>
              <a:ln w="28575" cap="rnd">
                <a:solidFill>
                  <a:schemeClr val="accent3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9-DC31-49AB-BA68-86595BCFC360}"/>
              </c:ext>
            </c:extLst>
          </c:dPt>
          <c:dPt>
            <c:idx val="15"/>
            <c:marker>
              <c:symbol val="none"/>
            </c:marker>
            <c:bubble3D val="0"/>
            <c:spPr>
              <a:ln w="28575" cap="rnd">
                <a:solidFill>
                  <a:schemeClr val="accent3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B-DC31-49AB-BA68-86595BCFC360}"/>
              </c:ext>
            </c:extLst>
          </c:dPt>
          <c:dLbls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DC31-49AB-BA68-86595BCFC360}"/>
                </c:ext>
              </c:extLst>
            </c:dLbl>
            <c:dLbl>
              <c:idx val="12"/>
              <c:layout>
                <c:manualLayout>
                  <c:x val="-6.8299925760950314E-2"/>
                  <c:y val="-2.731222842954686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DC31-49AB-BA68-86595BCFC360}"/>
                </c:ext>
              </c:extLst>
            </c:dLbl>
            <c:dLbl>
              <c:idx val="15"/>
              <c:layout>
                <c:manualLayout>
                  <c:x val="4.4543429844097994E-3"/>
                  <c:y val="-7.448789571694599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DC31-49AB-BA68-86595BCFC360}"/>
                </c:ext>
              </c:extLst>
            </c:dLbl>
            <c:spPr>
              <a:solidFill>
                <a:schemeClr val="accent3">
                  <a:lumMod val="60000"/>
                  <a:lumOff val="40000"/>
                  <a:alpha val="66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'Анализ 1 сентября'!$A$100:$A$124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'Анализ 1 сентября'!$D$100:$D$124</c:f>
              <c:numCache>
                <c:formatCode>0.00</c:formatCode>
                <c:ptCount val="24"/>
                <c:pt idx="0">
                  <c:v>109.11751151738216</c:v>
                </c:pt>
                <c:pt idx="1">
                  <c:v>90.833559767037755</c:v>
                </c:pt>
                <c:pt idx="2">
                  <c:v>102.10764815244053</c:v>
                </c:pt>
                <c:pt idx="3">
                  <c:v>150.70751505810767</c:v>
                </c:pt>
                <c:pt idx="4">
                  <c:v>129.44478819306607</c:v>
                </c:pt>
                <c:pt idx="5">
                  <c:v>123.9528373095461</c:v>
                </c:pt>
                <c:pt idx="6">
                  <c:v>118.58414526738714</c:v>
                </c:pt>
                <c:pt idx="7">
                  <c:v>90.217914395034313</c:v>
                </c:pt>
                <c:pt idx="8">
                  <c:v>103.99905512665188</c:v>
                </c:pt>
                <c:pt idx="9">
                  <c:v>108.91658192813338</c:v>
                </c:pt>
                <c:pt idx="10">
                  <c:v>117.58953381911851</c:v>
                </c:pt>
                <c:pt idx="11">
                  <c:v>148.02394873945963</c:v>
                </c:pt>
                <c:pt idx="12">
                  <c:v>162.95781722778815</c:v>
                </c:pt>
                <c:pt idx="13">
                  <c:v>146.71497822112948</c:v>
                </c:pt>
                <c:pt idx="14">
                  <c:v>138.1733808879662</c:v>
                </c:pt>
                <c:pt idx="15">
                  <c:v>144.86004912606595</c:v>
                </c:pt>
                <c:pt idx="16">
                  <c:v>117.52828556396391</c:v>
                </c:pt>
                <c:pt idx="17">
                  <c:v>119.6862743133679</c:v>
                </c:pt>
                <c:pt idx="18">
                  <c:v>97.626264247362712</c:v>
                </c:pt>
                <c:pt idx="19">
                  <c:v>108.14739344193815</c:v>
                </c:pt>
                <c:pt idx="20">
                  <c:v>107.86299420726776</c:v>
                </c:pt>
                <c:pt idx="21">
                  <c:v>117.94039858068572</c:v>
                </c:pt>
                <c:pt idx="22">
                  <c:v>103.57064268590041</c:v>
                </c:pt>
                <c:pt idx="23">
                  <c:v>100.77668904725995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C-DC31-49AB-BA68-86595BCFC3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24819743"/>
        <c:axId val="224824319"/>
      </c:lineChart>
      <c:catAx>
        <c:axId val="224819743"/>
        <c:scaling>
          <c:orientation val="minMax"/>
        </c:scaling>
        <c:delete val="0"/>
        <c:axPos val="b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Часы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24824319"/>
        <c:crosses val="autoZero"/>
        <c:auto val="1"/>
        <c:lblAlgn val="ctr"/>
        <c:lblOffset val="100"/>
        <c:noMultiLvlLbl val="0"/>
      </c:catAx>
      <c:valAx>
        <c:axId val="224824319"/>
        <c:scaling>
          <c:orientation val="minMax"/>
          <c:min val="8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Средняя</a:t>
                </a:r>
                <a:r>
                  <a:rPr lang="ru-RU" baseline="0"/>
                  <a:t> длительность транзакций (сек)</a:t>
                </a:r>
                <a:endParaRPr lang="ru-RU"/>
              </a:p>
            </c:rich>
          </c:tx>
          <c:layout>
            <c:manualLayout>
              <c:xMode val="edge"/>
              <c:yMode val="edge"/>
              <c:x val="2.515723653775475E-2"/>
              <c:y val="0.4332568487532808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248197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[07 13_18_0767a6080f584035.03909337transaction_list2Сотникова.xlsx]Задача 1!Сводная таблица1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Длительность транзакций по дням</a:t>
            </a:r>
          </a:p>
        </c:rich>
      </c:tx>
      <c:layout>
        <c:manualLayout>
          <c:xMode val="edge"/>
          <c:yMode val="edge"/>
          <c:x val="0.17193763665204281"/>
          <c:y val="6.691813534402413E-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1.1111111111111112E-2"/>
              <c:y val="-6.944444444444444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1.1111111111111112E-2"/>
              <c:y val="-6.944444444444444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1.1111111111111112E-2"/>
              <c:y val="-6.944444444444444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'Задача 1'!$B$5</c:f>
              <c:strCache>
                <c:ptCount val="1"/>
                <c:pt idx="0">
                  <c:v>Итог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Pt>
            <c:idx val="1"/>
            <c:marker>
              <c:symbol val="none"/>
            </c:marker>
            <c:bubble3D val="0"/>
            <c:spPr>
              <a:ln w="28575" cap="rnd">
                <a:solidFill>
                  <a:schemeClr val="accen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9606-4CF3-B71C-6560653E34B2}"/>
              </c:ext>
            </c:extLst>
          </c:dPt>
          <c:dLbls>
            <c:dLbl>
              <c:idx val="1"/>
              <c:layout>
                <c:manualLayout>
                  <c:x val="-1.1111111111111112E-2"/>
                  <c:y val="-6.944444444444444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606-4CF3-B71C-6560653E34B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1'!$A$6:$A$9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'Задача 1'!$B$6:$B$9</c:f>
              <c:numCache>
                <c:formatCode>0</c:formatCode>
                <c:ptCount val="3"/>
                <c:pt idx="0">
                  <c:v>207.90849670986918</c:v>
                </c:pt>
                <c:pt idx="1">
                  <c:v>230.29468595860121</c:v>
                </c:pt>
                <c:pt idx="2">
                  <c:v>186.33333329583846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606-4CF3-B71C-6560653E34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57451664"/>
        <c:axId val="557462480"/>
      </c:lineChart>
      <c:catAx>
        <c:axId val="55745166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57462480"/>
        <c:crosses val="autoZero"/>
        <c:auto val="1"/>
        <c:lblAlgn val="ctr"/>
        <c:lblOffset val="100"/>
        <c:noMultiLvlLbl val="0"/>
      </c:catAx>
      <c:valAx>
        <c:axId val="5574624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Длительность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574516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[07 13_18_0767a6080f584035.03909337transaction_list2Сотникова.xlsx]Задача 1!Сводная таблица2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ru-RU" sz="1800" b="0" i="0" baseline="0">
                <a:effectLst/>
              </a:rPr>
              <a:t>Длительность транзакций по дням</a:t>
            </a:r>
            <a:endParaRPr lang="ru-RU">
              <a:effectLst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000000">
                    <a:lumMod val="65000"/>
                    <a:lumOff val="35000"/>
                  </a:srgbClr>
                </a:solidFill>
              </a:defRPr>
            </a:pPr>
            <a:endParaRPr lang="ru-RU"/>
          </a:p>
        </c:rich>
      </c:tx>
      <c:layout>
        <c:manualLayout>
          <c:xMode val="edge"/>
          <c:yMode val="edge"/>
          <c:x val="0.25786025605617546"/>
          <c:y val="0.148589852863578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rgbClr val="000000">
                  <a:lumMod val="65000"/>
                  <a:lumOff val="35000"/>
                </a:srgb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'Задача 1'!$B$24</c:f>
              <c:strCache>
                <c:ptCount val="1"/>
                <c:pt idx="0">
                  <c:v>Среднее по полю Len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Pt>
            <c:idx val="2"/>
            <c:marker>
              <c:symbol val="none"/>
            </c:marker>
            <c:bubble3D val="0"/>
            <c:spPr>
              <a:ln w="28575" cap="rnd">
                <a:solidFill>
                  <a:schemeClr val="accen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397A-43AC-81AC-D242271D5F26}"/>
              </c:ext>
            </c:extLst>
          </c:dPt>
          <c:dLbls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97A-43AC-81AC-D242271D5F2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1'!$A$25:$A$28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'Задача 1'!$B$25:$B$28</c:f>
              <c:numCache>
                <c:formatCode>0.00</c:formatCode>
                <c:ptCount val="3"/>
                <c:pt idx="0">
                  <c:v>64.986666636541486</c:v>
                </c:pt>
                <c:pt idx="1">
                  <c:v>69.70238094259652</c:v>
                </c:pt>
                <c:pt idx="2">
                  <c:v>114.07432432421734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97A-43AC-81AC-D242271D5F26}"/>
            </c:ext>
          </c:extLst>
        </c:ser>
        <c:ser>
          <c:idx val="1"/>
          <c:order val="1"/>
          <c:tx>
            <c:strRef>
              <c:f>'Задача 1'!$C$24</c:f>
              <c:strCache>
                <c:ptCount val="1"/>
                <c:pt idx="0">
                  <c:v>Количество по полю id_transaction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'Задача 1'!$A$25:$A$28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'Задача 1'!$C$25:$C$28</c:f>
              <c:numCache>
                <c:formatCode>0</c:formatCode>
                <c:ptCount val="3"/>
                <c:pt idx="0">
                  <c:v>150</c:v>
                </c:pt>
                <c:pt idx="1">
                  <c:v>168</c:v>
                </c:pt>
                <c:pt idx="2">
                  <c:v>148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97A-43AC-81AC-D242271D5F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57468720"/>
        <c:axId val="557464144"/>
      </c:lineChart>
      <c:catAx>
        <c:axId val="55746872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57464144"/>
        <c:crosses val="autoZero"/>
        <c:auto val="1"/>
        <c:lblAlgn val="ctr"/>
        <c:lblOffset val="100"/>
        <c:noMultiLvlLbl val="0"/>
      </c:catAx>
      <c:valAx>
        <c:axId val="557464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Длительность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574687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[07 13_18_0767a6080f584035.03909337transaction_list2Сотникова.xlsx]Задача 1!Сводная таблица3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ru-RU" sz="1800" b="0" i="0" baseline="0">
                <a:effectLst/>
              </a:rPr>
              <a:t>Длительность транзакций по дням</a:t>
            </a:r>
            <a:endParaRPr lang="ru-RU">
              <a:effectLst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000000">
                    <a:lumMod val="65000"/>
                    <a:lumOff val="35000"/>
                  </a:srgbClr>
                </a:solidFill>
              </a:defRPr>
            </a:pP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rgbClr val="000000">
                  <a:lumMod val="65000"/>
                  <a:lumOff val="35000"/>
                </a:srgb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8.5227285437139935E-2"/>
              <c:y val="-5.142333902325734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8.5227285437139935E-2"/>
              <c:y val="-5.142333902325734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8.5227285437139935E-2"/>
              <c:y val="-5.142333902325734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3949589409702404"/>
          <c:y val="0.37263244585238675"/>
          <c:w val="0.56632607659618228"/>
          <c:h val="0.3686131474541961"/>
        </c:manualLayout>
      </c:layout>
      <c:lineChart>
        <c:grouping val="standard"/>
        <c:varyColors val="0"/>
        <c:ser>
          <c:idx val="0"/>
          <c:order val="0"/>
          <c:tx>
            <c:strRef>
              <c:f>'Задача 1'!$B$39</c:f>
              <c:strCache>
                <c:ptCount val="1"/>
                <c:pt idx="0">
                  <c:v>Среднее по полю Len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Pt>
            <c:idx val="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0-5029-4799-8955-9BD796D22DAF}"/>
              </c:ext>
            </c:extLst>
          </c:dPt>
          <c:dLbls>
            <c:dLbl>
              <c:idx val="0"/>
              <c:layout>
                <c:manualLayout>
                  <c:x val="-8.5227285437139935E-2"/>
                  <c:y val="-5.1423339023257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029-4799-8955-9BD796D22DA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1'!$A$40:$A$43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'Задача 1'!$B$40:$B$43</c:f>
              <c:numCache>
                <c:formatCode>0.00</c:formatCode>
                <c:ptCount val="3"/>
                <c:pt idx="0">
                  <c:v>139.92796609547162</c:v>
                </c:pt>
                <c:pt idx="1">
                  <c:v>98.869090915445909</c:v>
                </c:pt>
                <c:pt idx="2">
                  <c:v>97.499005949665346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029-4799-8955-9BD796D22DAF}"/>
            </c:ext>
          </c:extLst>
        </c:ser>
        <c:ser>
          <c:idx val="1"/>
          <c:order val="1"/>
          <c:tx>
            <c:strRef>
              <c:f>'Задача 1'!$C$39</c:f>
              <c:strCache>
                <c:ptCount val="1"/>
                <c:pt idx="0">
                  <c:v>Количество по полю id_transaction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'Задача 1'!$A$40:$A$43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'Задача 1'!$C$40:$C$43</c:f>
              <c:numCache>
                <c:formatCode>0</c:formatCode>
                <c:ptCount val="3"/>
                <c:pt idx="0">
                  <c:v>472</c:v>
                </c:pt>
                <c:pt idx="1">
                  <c:v>550</c:v>
                </c:pt>
                <c:pt idx="2">
                  <c:v>503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029-4799-8955-9BD796D22D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34388352"/>
        <c:axId val="534391680"/>
      </c:lineChart>
      <c:catAx>
        <c:axId val="53438835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34391680"/>
        <c:crosses val="autoZero"/>
        <c:auto val="1"/>
        <c:lblAlgn val="ctr"/>
        <c:lblOffset val="100"/>
        <c:noMultiLvlLbl val="0"/>
      </c:catAx>
      <c:valAx>
        <c:axId val="5343916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Длительность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343883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[07 13_18_0767a6080f584035.03909337transaction_list2Сотникова (1).xlsx]Задание 3!Сводная таблица1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Экономия клиента в рамках бина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'Задание 3'!$B$3</c:f>
              <c:strCache>
                <c:ptCount val="1"/>
                <c:pt idx="0">
                  <c:v>Итог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'Задание 3'!$A$4:$A$8</c:f>
              <c:strCache>
                <c:ptCount val="4"/>
                <c:pt idx="0">
                  <c:v>1,00%</c:v>
                </c:pt>
                <c:pt idx="1">
                  <c:v>2,00%</c:v>
                </c:pt>
                <c:pt idx="2">
                  <c:v>3,00%</c:v>
                </c:pt>
                <c:pt idx="3">
                  <c:v>4,00%</c:v>
                </c:pt>
              </c:strCache>
            </c:strRef>
          </c:cat>
          <c:val>
            <c:numRef>
              <c:f>'Задание 3'!$B$4:$B$8</c:f>
              <c:numCache>
                <c:formatCode>0.00</c:formatCode>
                <c:ptCount val="4"/>
                <c:pt idx="0">
                  <c:v>244869.6085999996</c:v>
                </c:pt>
                <c:pt idx="1">
                  <c:v>718949.4510999989</c:v>
                </c:pt>
                <c:pt idx="2">
                  <c:v>1226936.296799999</c:v>
                </c:pt>
                <c:pt idx="3">
                  <c:v>1703133.4769000013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60-49FC-A32A-1046AABC1F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69066576"/>
        <c:axId val="1669076976"/>
      </c:barChart>
      <c:catAx>
        <c:axId val="166906657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Интервалы скидок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69076976"/>
        <c:crosses val="autoZero"/>
        <c:auto val="1"/>
        <c:lblAlgn val="ctr"/>
        <c:lblOffset val="100"/>
        <c:noMultiLvlLbl val="0"/>
      </c:catAx>
      <c:valAx>
        <c:axId val="1669076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Сумма,руб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69066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596349-E730-45B6-BBF9-7978F3AF5B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45F70CB-6C76-4A2B-B9B3-DB7E0661A5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8C0BE3-A6FC-4632-A818-B2081A245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1A7FE-1F98-486E-855A-44883E58883D}" type="datetimeFigureOut">
              <a:rPr lang="ru-RU" smtClean="0"/>
              <a:t>27.03.2025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DD3FB7-4E91-45AE-B797-02722012A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ABDF60-AF51-4C27-87A6-12A0E82F1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225E-C34A-4CE9-A5B8-44186567D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6004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E6E816-EEE9-4238-96BF-C84B3528F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278977-289F-46EC-AE57-2C9692C49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1E976D-F6D9-49FC-B9C1-A4DFDC8D2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1A7FE-1F98-486E-855A-44883E58883D}" type="datetimeFigureOut">
              <a:rPr lang="ru-RU" smtClean="0"/>
              <a:t>27.03.2025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71F85A-273E-432C-868A-0F9600798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68D5BD-E741-4E8E-88E2-BB09F1146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225E-C34A-4CE9-A5B8-44186567D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0859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800F12-66CA-4BEA-8791-81E0279E9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9C755B-1031-42D0-8B88-B2D90A133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71EF17-C23F-4CD5-A64B-F41C6541A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1A7FE-1F98-486E-855A-44883E58883D}" type="datetimeFigureOut">
              <a:rPr lang="ru-RU" smtClean="0"/>
              <a:t>27.03.2025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FD36C8-66C7-4F4D-B52E-ED8309481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681DF5-96F3-4382-A9CF-867CCE47E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225E-C34A-4CE9-A5B8-44186567D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6233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C92466-7B04-48C0-96CB-017CAD63D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76298A-54CA-43E9-889E-25BF044E91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6F8A6BB-7C52-4BA6-9275-2897A2AF70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BD6F467-DD13-435F-B19D-6589F539E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1A7FE-1F98-486E-855A-44883E58883D}" type="datetimeFigureOut">
              <a:rPr lang="ru-RU" smtClean="0"/>
              <a:t>27.03.2025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661A163-92F9-498F-AE20-5E1BED345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DEDFE56-DA35-477F-B91F-BF5DFA7F6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225E-C34A-4CE9-A5B8-44186567D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4729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D5F4CF-0899-488D-BA23-C27464321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66B4C2-1F7E-4360-ACCD-6B39F6E79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BC6F7BE-5E2C-4424-9EDF-D96EBDD43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8D1F236-0DE5-4238-A74E-4BF7CD093E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AA4ECDD-DB6B-4232-BC96-018DF89133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37BD8E6-BBE1-4C02-8BF8-4907F29C5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1A7FE-1F98-486E-855A-44883E58883D}" type="datetimeFigureOut">
              <a:rPr lang="ru-RU" smtClean="0"/>
              <a:t>27.03.2025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A4B6DE0-89BE-4334-A29F-C49F2F10C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76AC35A-1A96-4DC7-AB89-D894566C2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225E-C34A-4CE9-A5B8-44186567D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1255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24B66F-7AAD-4F61-9B58-15E68D52B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86793B3-0C4C-4666-ADFB-7E53DC37E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1A7FE-1F98-486E-855A-44883E58883D}" type="datetimeFigureOut">
              <a:rPr lang="ru-RU" smtClean="0"/>
              <a:t>27.03.2025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DCD1129-CA16-4C1A-A7E5-5E4F9AA32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0FB5D63-639B-4413-82D5-8ED560FB4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225E-C34A-4CE9-A5B8-44186567D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9296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533411E-D1D5-405C-81B6-411C5BF50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1A7FE-1F98-486E-855A-44883E58883D}" type="datetimeFigureOut">
              <a:rPr lang="ru-RU" smtClean="0"/>
              <a:t>27.03.2025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F80671B-4725-4CD1-ACAF-F8E003A82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D22151E-420C-4A9E-8840-BB82D0C08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225E-C34A-4CE9-A5B8-44186567D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7868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07CA2A-F507-428A-BA1A-B90B7341A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A920A6-F866-478F-9909-33B2D4EFC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65A984A-E09D-424F-AAE5-ACFDBC740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18C514D-7134-4D2D-A866-61201670C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1A7FE-1F98-486E-855A-44883E58883D}" type="datetimeFigureOut">
              <a:rPr lang="ru-RU" smtClean="0"/>
              <a:t>27.03.2025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0582CED-A822-4AAC-A3B7-635F202AD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776D9BD-B9A5-4D9A-9547-29CF2E77A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225E-C34A-4CE9-A5B8-44186567D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8800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7A2890-C143-470B-BD1E-2C961B19B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0A93519-5B2A-4A4A-8D54-CD8E426736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17EA419-20E7-4BD1-B54D-5B5E830FC8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DEDC66D-C349-4B5A-B6EA-413CAA6C1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1A7FE-1F98-486E-855A-44883E58883D}" type="datetimeFigureOut">
              <a:rPr lang="ru-RU" smtClean="0"/>
              <a:t>27.03.2025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2088D56-7508-47B6-A0BE-D178C041B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22F530B-117A-49AD-8A04-ABBDE49E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225E-C34A-4CE9-A5B8-44186567D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377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43E9DD-04D3-4D49-9167-E14E57E76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F408835-7199-4A8C-A5E8-407680EC30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B30F2C-8B0C-495C-AA52-F9DD94458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1A7FE-1F98-486E-855A-44883E58883D}" type="datetimeFigureOut">
              <a:rPr lang="ru-RU" smtClean="0"/>
              <a:t>27.03.2025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71C7C1-0423-43F5-9F10-F2E265421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DB1219-D701-43B1-B04A-4E1B8E313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225E-C34A-4CE9-A5B8-44186567D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0098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7938A0E-CB13-4CC1-9C52-4B758DB0A0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7632242-E9BF-4CF2-8B48-D2FA8F544F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68B6669-5AAF-462A-886C-F742DB651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1A7FE-1F98-486E-855A-44883E58883D}" type="datetimeFigureOut">
              <a:rPr lang="ru-RU" smtClean="0"/>
              <a:t>27.03.2025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B70BD4-7A3A-4849-926D-70512A6D1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A670A2-9AD3-4CEC-860C-E68FC2F6B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225E-C34A-4CE9-A5B8-44186567D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2458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1BE88D-B491-4615-9D41-313F20EA3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8B1BCEF-A51E-452A-A10E-A76033F16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7C6EBB-A210-4F83-8DE6-BD970139E8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21A7FE-1F98-486E-855A-44883E58883D}" type="datetimeFigureOut">
              <a:rPr lang="ru-RU" smtClean="0"/>
              <a:t>27.03.2025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ED332F-036D-44D7-A73E-A63EF97FFE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029F5A-B046-44E1-9293-F8BA180B21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00225E-C34A-4CE9-A5B8-44186567D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23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BCABD2-F08F-40E4-9BD0-B2576498FE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ru-RU" sz="6600" dirty="0">
                <a:solidFill>
                  <a:srgbClr val="FFFFFF"/>
                </a:solidFill>
              </a:rPr>
              <a:t>Курсовая работа</a:t>
            </a:r>
            <a:r>
              <a:rPr lang="en-US" sz="6600" dirty="0">
                <a:solidFill>
                  <a:srgbClr val="FFFFFF"/>
                </a:solidFill>
              </a:rPr>
              <a:t> Excel</a:t>
            </a:r>
            <a:endParaRPr lang="ru-RU" sz="6600" dirty="0">
              <a:solidFill>
                <a:srgbClr val="FFFFFF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0189C20-92F4-470B-A650-E768B7B61A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r"/>
            <a:r>
              <a:rPr lang="ru-RU" dirty="0"/>
              <a:t>Автор: Сотникова Мария Юрьевна</a:t>
            </a:r>
          </a:p>
        </p:txBody>
      </p:sp>
    </p:spTree>
    <p:extLst>
      <p:ext uri="{BB962C8B-B14F-4D97-AF65-F5344CB8AC3E}">
        <p14:creationId xmlns:p14="http://schemas.microsoft.com/office/powerpoint/2010/main" val="1614520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C4DD4E-29D8-42C5-AC4D-72178972E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075" y="181921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ru-RU" sz="2700" b="0" i="0" dirty="0">
                <a:solidFill>
                  <a:srgbClr val="242D34"/>
                </a:solidFill>
                <a:effectLst/>
                <a:latin typeface="StratosSkyeng"/>
              </a:rPr>
            </a:br>
            <a:r>
              <a:rPr lang="ru-RU" sz="3100" b="0" i="0" dirty="0">
                <a:solidFill>
                  <a:srgbClr val="242D34"/>
                </a:solidFill>
                <a:effectLst/>
                <a:latin typeface="StratosSkyeng"/>
              </a:rPr>
              <a:t>Мы видим, что за первые 4 дня сентября произошел рост количества транзакций. Хотим проверить, какие именно торговые точки принесли нам этот прирост.</a:t>
            </a:r>
            <a:br>
              <a:rPr lang="ru-RU" sz="3100" b="0" i="0" dirty="0">
                <a:solidFill>
                  <a:srgbClr val="242D34"/>
                </a:solidFill>
                <a:effectLst/>
                <a:latin typeface="StratosSkyeng"/>
              </a:rPr>
            </a:br>
            <a:endParaRPr lang="ru-RU" sz="31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0E6B0C-D0FA-4867-9033-8E44F2F3C5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8490"/>
            <a:ext cx="12187280" cy="4518531"/>
          </a:xfrm>
        </p:spPr>
        <p:txBody>
          <a:bodyPr/>
          <a:lstStyle/>
          <a:p>
            <a:pPr algn="l"/>
            <a:endParaRPr lang="ru-RU" b="0" i="0" dirty="0">
              <a:solidFill>
                <a:srgbClr val="242D34"/>
              </a:solidFill>
              <a:effectLst/>
              <a:latin typeface="StratosSkyeng"/>
            </a:endParaRPr>
          </a:p>
          <a:p>
            <a:r>
              <a:rPr lang="ru-RU" sz="2800" b="1" i="0" u="none" strike="noStrike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есть точка на </a:t>
            </a:r>
            <a:r>
              <a:rPr lang="ru-RU" sz="2800" b="1" i="0" u="none" strike="noStrike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Чертановской</a:t>
            </a:r>
            <a:r>
              <a:rPr lang="ru-RU" sz="2800" b="1" i="0" u="none" strike="noStrike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перетянула покупателей из точки на Симферопольском бульваре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B8B2C1-EDD4-490B-ABDD-DB81FBB703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350" y="1608138"/>
            <a:ext cx="6778912" cy="359557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261FE35-6544-44E3-8067-190390CC42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20261" y="1608136"/>
            <a:ext cx="5083241" cy="3641725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1B2BB07-153C-4CA9-A17D-AA99038885EA}"/>
              </a:ext>
            </a:extLst>
          </p:cNvPr>
          <p:cNvSpPr txBox="1">
            <a:spLocks/>
          </p:cNvSpPr>
          <p:nvPr/>
        </p:nvSpPr>
        <p:spPr>
          <a:xfrm>
            <a:off x="1095375" y="52037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ru-RU" dirty="0">
                <a:solidFill>
                  <a:srgbClr val="242D34"/>
                </a:solidFill>
                <a:latin typeface="StratosSkyeng"/>
              </a:rPr>
            </a:br>
            <a:r>
              <a:rPr lang="ru-RU" sz="2200" dirty="0">
                <a:solidFill>
                  <a:srgbClr val="242D34"/>
                </a:solidFill>
                <a:latin typeface="StratosSkyeng"/>
              </a:rPr>
              <a:t>О</a:t>
            </a:r>
            <a:r>
              <a:rPr lang="ru-RU" sz="2200" dirty="0"/>
              <a:t>бщее количество транзакций действительно растет из</a:t>
            </a:r>
            <a:r>
              <a:rPr lang="ru-RU" sz="2200" dirty="0">
                <a:latin typeface="+mn-lt"/>
                <a:ea typeface="+mn-ea"/>
                <a:cs typeface="+mn-cs"/>
              </a:rPr>
              <a:t>-за открытия точки</a:t>
            </a:r>
            <a:r>
              <a:rPr lang="ru-RU" sz="2200" i="0" u="none" strike="noStrike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</a:t>
            </a:r>
            <a:r>
              <a:rPr lang="ru-RU" sz="2200" i="0" u="none" strike="noStrike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Чертановской</a:t>
            </a:r>
            <a:r>
              <a:rPr lang="ru-RU" sz="2200" dirty="0" err="1">
                <a:latin typeface="+mn-lt"/>
                <a:ea typeface="+mn-ea"/>
                <a:cs typeface="+mn-cs"/>
              </a:rPr>
              <a:t>.Она</a:t>
            </a:r>
            <a:r>
              <a:rPr lang="ru-RU" sz="2200" dirty="0">
                <a:latin typeface="+mn-lt"/>
                <a:ea typeface="+mn-ea"/>
                <a:cs typeface="+mn-cs"/>
              </a:rPr>
              <a:t> же и </a:t>
            </a:r>
            <a:r>
              <a:rPr lang="ru-RU" sz="2200" i="0" u="none" strike="noStrike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перетянула покупателей из точки на Симферопольском бульваре</a:t>
            </a:r>
            <a:r>
              <a:rPr lang="ru-RU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91149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E14C3C-277F-4A07-AB08-5B19742B9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253" y="82947"/>
            <a:ext cx="10515600" cy="1325563"/>
          </a:xfrm>
        </p:spPr>
        <p:txBody>
          <a:bodyPr>
            <a:noAutofit/>
          </a:bodyPr>
          <a:lstStyle/>
          <a:p>
            <a:r>
              <a:rPr lang="ru-RU" sz="2800" b="1" dirty="0"/>
              <a:t>Количество транзакций на серверах до и после </a:t>
            </a:r>
            <a:r>
              <a:rPr lang="ru-RU" sz="2800" b="1" dirty="0" err="1"/>
              <a:t>переподключения</a:t>
            </a:r>
            <a:r>
              <a:rPr lang="ru-RU" sz="2800" b="1" dirty="0"/>
              <a:t> точки на Ракетном бульваре</a:t>
            </a:r>
          </a:p>
        </p:txBody>
      </p:sp>
      <p:graphicFrame>
        <p:nvGraphicFramePr>
          <p:cNvPr id="14" name="Объект 13">
            <a:extLst>
              <a:ext uri="{FF2B5EF4-FFF2-40B4-BE49-F238E27FC236}">
                <a16:creationId xmlns:a16="http://schemas.microsoft.com/office/drawing/2014/main" id="{B7DD2006-BBFE-43C6-8161-637295A956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3102300"/>
              </p:ext>
            </p:extLst>
          </p:nvPr>
        </p:nvGraphicFramePr>
        <p:xfrm>
          <a:off x="1304925" y="1539081"/>
          <a:ext cx="2286000" cy="18002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63700">
                  <a:extLst>
                    <a:ext uri="{9D8B030D-6E8A-4147-A177-3AD203B41FA5}">
                      <a16:colId xmlns:a16="http://schemas.microsoft.com/office/drawing/2014/main" val="224199786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95821401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address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id_server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8264247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 dirty="0">
                          <a:effectLst/>
                        </a:rPr>
                        <a:t>ул. Щорса, 26/3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6385332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пр-т Вернадского, 88к3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2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89999177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Ленинский пр-т, 162/1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2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14422353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Ракетный б-р, 14к1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3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6923528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Симферопольский б-р, 22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36113124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ул. Чертановская,  20к2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 dirty="0">
                          <a:effectLst/>
                        </a:rPr>
                        <a:t>3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27299991"/>
                  </a:ext>
                </a:extLst>
              </a:tr>
            </a:tbl>
          </a:graphicData>
        </a:graphic>
      </p:graphicFrame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3FBA82D-462F-49C6-98CA-0C8A8BC4EE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8987" y="3429000"/>
            <a:ext cx="5200650" cy="2867025"/>
          </a:xfrm>
          <a:prstGeom prst="rect">
            <a:avLst/>
          </a:prstGeom>
        </p:spPr>
      </p:pic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60F66CE8-BA2F-4308-953F-3104AF15C3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6623781"/>
              </p:ext>
            </p:extLst>
          </p:nvPr>
        </p:nvGraphicFramePr>
        <p:xfrm>
          <a:off x="6667499" y="1453357"/>
          <a:ext cx="2352676" cy="18002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12225">
                  <a:extLst>
                    <a:ext uri="{9D8B030D-6E8A-4147-A177-3AD203B41FA5}">
                      <a16:colId xmlns:a16="http://schemas.microsoft.com/office/drawing/2014/main" val="952308544"/>
                    </a:ext>
                  </a:extLst>
                </a:gridCol>
                <a:gridCol w="640451">
                  <a:extLst>
                    <a:ext uri="{9D8B030D-6E8A-4147-A177-3AD203B41FA5}">
                      <a16:colId xmlns:a16="http://schemas.microsoft.com/office/drawing/2014/main" val="2431888894"/>
                    </a:ext>
                  </a:extLst>
                </a:gridCol>
              </a:tblGrid>
              <a:tr h="33065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address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id_server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28267794"/>
                  </a:ext>
                </a:extLst>
              </a:tr>
              <a:tr h="24492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 dirty="0">
                          <a:effectLst/>
                        </a:rPr>
                        <a:t>ул. Щорса, 26/3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75270998"/>
                  </a:ext>
                </a:extLst>
              </a:tr>
              <a:tr h="24492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пр-т Вернадского, 88к3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2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597048"/>
                  </a:ext>
                </a:extLst>
              </a:tr>
              <a:tr h="24492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 dirty="0">
                          <a:effectLst/>
                        </a:rPr>
                        <a:t>Ленинский пр-т, 162/1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2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99853245"/>
                  </a:ext>
                </a:extLst>
              </a:tr>
              <a:tr h="24492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Ракетный б-р, 14к1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42123507"/>
                  </a:ext>
                </a:extLst>
              </a:tr>
              <a:tr h="24492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Симферопольский б-р, 22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04383072"/>
                  </a:ext>
                </a:extLst>
              </a:tr>
              <a:tr h="24492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ул. Чертановская,  20к2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 dirty="0">
                          <a:effectLst/>
                        </a:rPr>
                        <a:t>3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34000348"/>
                  </a:ext>
                </a:extLst>
              </a:tr>
            </a:tbl>
          </a:graphicData>
        </a:graphic>
      </p:graphicFrame>
      <p:pic>
        <p:nvPicPr>
          <p:cNvPr id="15" name="Объект 4">
            <a:extLst>
              <a:ext uri="{FF2B5EF4-FFF2-40B4-BE49-F238E27FC236}">
                <a16:creationId xmlns:a16="http://schemas.microsoft.com/office/drawing/2014/main" id="{F48A890C-C6FE-4465-B977-6C43B72426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99637" y="3440278"/>
            <a:ext cx="4800600" cy="284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843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1E0FC7-5F11-4C3F-A3BB-83A10AAC3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800" b="1" dirty="0"/>
              <a:t>Коэффициент роста нагрузки на серверах до и после </a:t>
            </a:r>
            <a:r>
              <a:rPr lang="ru-RU" sz="2800" b="1" dirty="0" err="1"/>
              <a:t>переподключения</a:t>
            </a:r>
            <a:r>
              <a:rPr lang="ru-RU" sz="2800" b="1" dirty="0"/>
              <a:t> точки на Ракетном бульваре</a:t>
            </a:r>
            <a:endParaRPr lang="ru-RU" sz="2800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CA9CF1D-EBC0-4DC9-ADBE-1191789AD4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437" y="1891506"/>
            <a:ext cx="5172075" cy="3571875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29F02EA-CDB8-4272-8759-A77F792353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0" y="1891507"/>
            <a:ext cx="5407420" cy="3571874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11472BF7-40B1-409A-83AA-E665FA8DC32C}"/>
              </a:ext>
            </a:extLst>
          </p:cNvPr>
          <p:cNvSpPr txBox="1">
            <a:spLocks/>
          </p:cNvSpPr>
          <p:nvPr/>
        </p:nvSpPr>
        <p:spPr>
          <a:xfrm>
            <a:off x="1309690" y="546338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Оставили на 3 сервере только одну точку на </a:t>
            </a:r>
            <a:r>
              <a:rPr lang="ru-RU" sz="1800" b="0" i="0" u="none" strike="noStrike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Чертановской</a:t>
            </a: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Точку на Ракетном бульваре </a:t>
            </a:r>
            <a:r>
              <a:rPr lang="ru-RU" sz="1800" b="0" i="0" u="none" strike="noStrike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переподключили</a:t>
            </a: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1 серверу. Перераспределилась нагрузка на 1 и 3 сервера. </a:t>
            </a:r>
            <a:r>
              <a:rPr lang="ru-RU" sz="1800" dirty="0"/>
              <a:t> </a:t>
            </a: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Перегрузки на 3 сервере нет, рост транзакций не такой значительный</a:t>
            </a:r>
            <a:r>
              <a:rPr lang="ru-RU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41587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3625EB-9A04-4092-A375-178E8625F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b="0" i="0" dirty="0">
                <a:solidFill>
                  <a:srgbClr val="242D34"/>
                </a:solidFill>
                <a:effectLst/>
                <a:latin typeface="StratosSkyeng"/>
              </a:rPr>
              <a:t> </a:t>
            </a:r>
            <a:r>
              <a:rPr lang="ru-RU" sz="2800" dirty="0">
                <a:solidFill>
                  <a:srgbClr val="242D34"/>
                </a:solidFill>
                <a:latin typeface="StratosSkyeng"/>
              </a:rPr>
              <a:t>Р</a:t>
            </a:r>
            <a:r>
              <a:rPr lang="ru-RU" sz="2800" b="0" i="0" dirty="0">
                <a:solidFill>
                  <a:srgbClr val="242D34"/>
                </a:solidFill>
                <a:effectLst/>
                <a:latin typeface="StratosSkyeng"/>
              </a:rPr>
              <a:t>ассчитаем, в каких точках какой процент операций совершается с помощью касс самообслуживания. </a:t>
            </a:r>
            <a:endParaRPr lang="ru-RU" sz="2800" dirty="0"/>
          </a:p>
        </p:txBody>
      </p:sp>
      <p:graphicFrame>
        <p:nvGraphicFramePr>
          <p:cNvPr id="10" name="Объект 9">
            <a:extLst>
              <a:ext uri="{FF2B5EF4-FFF2-40B4-BE49-F238E27FC236}">
                <a16:creationId xmlns:a16="http://schemas.microsoft.com/office/drawing/2014/main" id="{5FA1C1B0-9733-4C9D-9FC7-4D5EB72882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4538392"/>
              </p:ext>
            </p:extLst>
          </p:nvPr>
        </p:nvGraphicFramePr>
        <p:xfrm>
          <a:off x="838200" y="1882775"/>
          <a:ext cx="5326626" cy="4299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13DA3D79-4A02-4C87-B565-8094D24E1651}"/>
              </a:ext>
            </a:extLst>
          </p:cNvPr>
          <p:cNvSpPr txBox="1">
            <a:spLocks/>
          </p:cNvSpPr>
          <p:nvPr/>
        </p:nvSpPr>
        <p:spPr>
          <a:xfrm>
            <a:off x="733425" y="5984273"/>
            <a:ext cx="5362575" cy="7809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dirty="0">
                <a:solidFill>
                  <a:srgbClr val="242D34"/>
                </a:solidFill>
                <a:latin typeface="StratosSkyeng"/>
              </a:rPr>
              <a:t>Доля касс самообслуживания выше в точках на Симферопольском бульваре и </a:t>
            </a:r>
            <a:r>
              <a:rPr lang="ru-RU" sz="1800" dirty="0" err="1">
                <a:solidFill>
                  <a:srgbClr val="242D34"/>
                </a:solidFill>
                <a:latin typeface="StratosSkyeng"/>
              </a:rPr>
              <a:t>Чертановской</a:t>
            </a:r>
            <a:r>
              <a:rPr lang="ru-RU" sz="1800" dirty="0">
                <a:solidFill>
                  <a:srgbClr val="242D34"/>
                </a:solidFill>
                <a:latin typeface="StratosSkyeng"/>
              </a:rPr>
              <a:t>.</a:t>
            </a:r>
            <a:endParaRPr lang="ru-RU" sz="1800" dirty="0"/>
          </a:p>
        </p:txBody>
      </p:sp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04B065B0-EB62-57C4-88F8-DB973825C9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1766465"/>
              </p:ext>
            </p:extLst>
          </p:nvPr>
        </p:nvGraphicFramePr>
        <p:xfrm>
          <a:off x="5953125" y="1882775"/>
          <a:ext cx="5572125" cy="34036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92A40619-49D2-42F6-BBCF-C3BF18768143}"/>
              </a:ext>
            </a:extLst>
          </p:cNvPr>
          <p:cNvSpPr txBox="1">
            <a:spLocks/>
          </p:cNvSpPr>
          <p:nvPr/>
        </p:nvSpPr>
        <p:spPr>
          <a:xfrm>
            <a:off x="6269601" y="5919187"/>
            <a:ext cx="5475800" cy="7809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dirty="0">
                <a:solidFill>
                  <a:srgbClr val="242D34"/>
                </a:solidFill>
                <a:latin typeface="StratosSkyeng"/>
              </a:rPr>
              <a:t>Рост операций с 3 сентября связан с открытием точки на </a:t>
            </a:r>
            <a:r>
              <a:rPr lang="ru-RU" sz="1800" dirty="0" err="1">
                <a:solidFill>
                  <a:srgbClr val="242D34"/>
                </a:solidFill>
                <a:latin typeface="StratosSkyeng"/>
              </a:rPr>
              <a:t>Чертановской</a:t>
            </a:r>
            <a:r>
              <a:rPr lang="ru-RU" sz="1800" dirty="0">
                <a:solidFill>
                  <a:srgbClr val="242D34"/>
                </a:solidFill>
                <a:latin typeface="StratosSkyeng"/>
              </a:rPr>
              <a:t>.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328177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DB58CB-B037-4EC3-8DE1-3E22497E9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800" b="1" dirty="0"/>
              <a:t>Средняя длительность операции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BE088F6C-F01B-0919-AFF6-D3DED6A6A9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1924462"/>
              </p:ext>
            </p:extLst>
          </p:nvPr>
        </p:nvGraphicFramePr>
        <p:xfrm>
          <a:off x="838200" y="1825625"/>
          <a:ext cx="6410325" cy="378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AB9809F8-FD84-48B1-8591-568154D73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320389"/>
              </p:ext>
            </p:extLst>
          </p:nvPr>
        </p:nvGraphicFramePr>
        <p:xfrm>
          <a:off x="7905750" y="2946400"/>
          <a:ext cx="2705100" cy="7715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4345">
                  <a:extLst>
                    <a:ext uri="{9D8B030D-6E8A-4147-A177-3AD203B41FA5}">
                      <a16:colId xmlns:a16="http://schemas.microsoft.com/office/drawing/2014/main" val="2388118270"/>
                    </a:ext>
                  </a:extLst>
                </a:gridCol>
                <a:gridCol w="1550755">
                  <a:extLst>
                    <a:ext uri="{9D8B030D-6E8A-4147-A177-3AD203B41FA5}">
                      <a16:colId xmlns:a16="http://schemas.microsoft.com/office/drawing/2014/main" val="78748642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Названия строк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Средняя длительность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96883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70,66668611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7706399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154,5598194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747635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Общий итог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94,65344177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39414586"/>
                  </a:ext>
                </a:extLst>
              </a:tr>
            </a:tbl>
          </a:graphicData>
        </a:graphic>
      </p:graphicFrame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D45754C7-1E19-428D-952F-BD609DCECBE6}"/>
              </a:ext>
            </a:extLst>
          </p:cNvPr>
          <p:cNvSpPr txBox="1">
            <a:spLocks/>
          </p:cNvSpPr>
          <p:nvPr/>
        </p:nvSpPr>
        <p:spPr>
          <a:xfrm>
            <a:off x="180975" y="54610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sz="2800" b="1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56964FFC-DAD3-4AE2-9034-E04B7D8F3833}"/>
              </a:ext>
            </a:extLst>
          </p:cNvPr>
          <p:cNvSpPr txBox="1">
            <a:spLocks/>
          </p:cNvSpPr>
          <p:nvPr/>
        </p:nvSpPr>
        <p:spPr>
          <a:xfrm>
            <a:off x="276225" y="5462588"/>
            <a:ext cx="108585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dirty="0">
                <a:latin typeface="StratosSkyeng"/>
                <a:ea typeface="STKaiti" panose="020B0503020204020204" pitchFamily="2" charset="-122"/>
              </a:rPr>
              <a:t>Наблюдаем увеличение длительности транзакции с 3 сентября и всплеск средней длительности транзакций 1 сентября.</a:t>
            </a:r>
            <a:endParaRPr lang="ru-RU" sz="1800" dirty="0">
              <a:latin typeface="StratosSkyeng"/>
              <a:ea typeface="STKaiti" panose="020B0503020204020204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853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B95B37-97F3-413B-944B-3536ECECE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Исследование 1 сентября</a:t>
            </a:r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225FBCD3-549F-4F33-87FE-5145ADCF6B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974628"/>
              </p:ext>
            </p:extLst>
          </p:nvPr>
        </p:nvGraphicFramePr>
        <p:xfrm>
          <a:off x="403123" y="1690688"/>
          <a:ext cx="7973961" cy="21832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A4F2534B-52E8-4D53-A862-6F5ADFABAD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3679029"/>
              </p:ext>
            </p:extLst>
          </p:nvPr>
        </p:nvGraphicFramePr>
        <p:xfrm>
          <a:off x="481782" y="4133134"/>
          <a:ext cx="7757650" cy="23597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8D9BB8DA-8ACC-47B3-B273-1A37C921027E}"/>
              </a:ext>
            </a:extLst>
          </p:cNvPr>
          <p:cNvSpPr txBox="1">
            <a:spLocks/>
          </p:cNvSpPr>
          <p:nvPr/>
        </p:nvSpPr>
        <p:spPr>
          <a:xfrm>
            <a:off x="8377084" y="1690688"/>
            <a:ext cx="3578943" cy="18783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9F01D30-50C2-43F7-A98E-CB99B7351630}"/>
              </a:ext>
            </a:extLst>
          </p:cNvPr>
          <p:cNvSpPr/>
          <p:nvPr/>
        </p:nvSpPr>
        <p:spPr>
          <a:xfrm>
            <a:off x="8524875" y="1690689"/>
            <a:ext cx="3264002" cy="206210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1600" dirty="0"/>
              <a:t>Наблюдается резкое увеличение длительности</a:t>
            </a:r>
            <a:r>
              <a:rPr lang="ru-RU" sz="1600" baseline="0" dirty="0"/>
              <a:t> транзакций с 3 до 5 часов утра на точке по улице Щорса. </a:t>
            </a:r>
          </a:p>
          <a:p>
            <a:r>
              <a:rPr lang="ru-RU" sz="1600" b="1" baseline="0" dirty="0"/>
              <a:t>Это может быть связано с перебоями сети Интернет в Солнцевском районе с 2 до 7 утра</a:t>
            </a:r>
            <a:r>
              <a:rPr lang="ru-RU" sz="1600" baseline="0" dirty="0"/>
              <a:t>.</a:t>
            </a:r>
          </a:p>
          <a:p>
            <a:pPr algn="ctr"/>
            <a:endParaRPr lang="ru-RU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286976E-1AD3-432B-9408-D6B964170B41}"/>
              </a:ext>
            </a:extLst>
          </p:cNvPr>
          <p:cNvSpPr/>
          <p:nvPr/>
        </p:nvSpPr>
        <p:spPr>
          <a:xfrm>
            <a:off x="8658225" y="4133134"/>
            <a:ext cx="2943225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dirty="0"/>
              <a:t>Видим,</a:t>
            </a:r>
            <a:r>
              <a:rPr lang="ru-RU" sz="1600" baseline="0" dirty="0"/>
              <a:t> что увеличение количества транзакций приходится на время, начиная  с 11 до 15 часов. </a:t>
            </a:r>
            <a:r>
              <a:rPr lang="ru-RU" sz="1600" b="1" baseline="0" dirty="0"/>
              <a:t>Перегруз системы связан со скидочными акциями, проходящими в эти часы. Наблюдался значительный рост количества заказов.</a:t>
            </a:r>
            <a:endParaRPr lang="ru-RU" sz="1600" b="1" dirty="0"/>
          </a:p>
          <a:p>
            <a:pPr algn="ctr"/>
            <a:endParaRPr lang="ru-RU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21466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1F5673F-B74D-46A4-8F49-D75E78C2D245}"/>
              </a:ext>
            </a:extLst>
          </p:cNvPr>
          <p:cNvSpPr/>
          <p:nvPr/>
        </p:nvSpPr>
        <p:spPr>
          <a:xfrm>
            <a:off x="8991600" y="1028701"/>
            <a:ext cx="2990849" cy="42165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5400" baseline="0" dirty="0"/>
              <a:t> </a:t>
            </a:r>
            <a:r>
              <a:rPr lang="ru-RU" sz="1600" baseline="0" dirty="0"/>
              <a:t>Длительность операций в системе </a:t>
            </a:r>
            <a:r>
              <a:rPr lang="en-US" sz="1600" baseline="0" dirty="0"/>
              <a:t>MasterCard</a:t>
            </a:r>
            <a:r>
              <a:rPr lang="ru-RU" sz="1600" baseline="0" dirty="0"/>
              <a:t> значительно увеличилась с 19 до 23 часов.</a:t>
            </a:r>
          </a:p>
          <a:p>
            <a:r>
              <a:rPr lang="ru-RU" sz="1600" b="1" baseline="0" dirty="0"/>
              <a:t>Это может быть связано с незаконченным проектом интеграции платежных систем. Не все платежные системы работают корректно. В данном случае дала сбой система </a:t>
            </a:r>
            <a:r>
              <a:rPr lang="en-US" sz="1600" b="1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MasterCard</a:t>
            </a:r>
            <a:r>
              <a:rPr lang="ru-RU" sz="1600" b="1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600" b="1" baseline="0" dirty="0"/>
          </a:p>
          <a:p>
            <a:pPr algn="ctr"/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4B05901E-E880-4DFF-9627-39514407923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9356260"/>
              </p:ext>
            </p:extLst>
          </p:nvPr>
        </p:nvGraphicFramePr>
        <p:xfrm>
          <a:off x="0" y="871537"/>
          <a:ext cx="8553450" cy="5114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12516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9AD412-D02D-4001-A092-0DBE3775E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b="1" dirty="0"/>
              <a:t>Технические проблемы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9346165-D8DA-49F7-BAEA-1FE3E106451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90688"/>
            <a:ext cx="8228431" cy="3825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EE26501-A560-4EF1-AE77-B5F218CEC238}"/>
              </a:ext>
            </a:extLst>
          </p:cNvPr>
          <p:cNvSpPr/>
          <p:nvPr/>
        </p:nvSpPr>
        <p:spPr>
          <a:xfrm>
            <a:off x="8505825" y="1690688"/>
            <a:ext cx="3352800" cy="313932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l"/>
            <a:r>
              <a:rPr lang="ru-RU" b="1" i="0" dirty="0">
                <a:solidFill>
                  <a:srgbClr val="242D34"/>
                </a:solidFill>
                <a:effectLst/>
                <a:latin typeface="StratosSkyeng"/>
              </a:rPr>
              <a:t>Сиреневый </a:t>
            </a:r>
            <a:r>
              <a:rPr lang="ru-RU" b="0" i="0" dirty="0">
                <a:solidFill>
                  <a:srgbClr val="242D34"/>
                </a:solidFill>
                <a:effectLst/>
                <a:latin typeface="StratosSkyeng"/>
              </a:rPr>
              <a:t>— сервер 1 в период с 00:00 по 9:00 в день 05.09</a:t>
            </a:r>
          </a:p>
          <a:p>
            <a:pPr algn="l"/>
            <a:r>
              <a:rPr lang="ru-RU" b="1" i="0" dirty="0">
                <a:solidFill>
                  <a:srgbClr val="242D34"/>
                </a:solidFill>
                <a:effectLst/>
                <a:latin typeface="StratosSkyeng"/>
              </a:rPr>
              <a:t>Оранжевый </a:t>
            </a:r>
            <a:r>
              <a:rPr lang="ru-RU" b="0" i="0" dirty="0">
                <a:solidFill>
                  <a:srgbClr val="242D34"/>
                </a:solidFill>
                <a:effectLst/>
                <a:latin typeface="StratosSkyeng"/>
              </a:rPr>
              <a:t>— сервер 2 в период 12.00-13.00 в день 07.09</a:t>
            </a:r>
          </a:p>
          <a:p>
            <a:pPr algn="l"/>
            <a:r>
              <a:rPr lang="ru-RU" b="1" i="0" dirty="0">
                <a:solidFill>
                  <a:srgbClr val="242D34"/>
                </a:solidFill>
                <a:effectLst/>
                <a:latin typeface="StratosSkyeng"/>
              </a:rPr>
              <a:t>Красный </a:t>
            </a:r>
            <a:r>
              <a:rPr lang="ru-RU" b="0" i="0" dirty="0">
                <a:solidFill>
                  <a:srgbClr val="242D34"/>
                </a:solidFill>
                <a:effectLst/>
                <a:latin typeface="StratosSkyeng"/>
              </a:rPr>
              <a:t>— сервер 1 в течение всего дня 06.09</a:t>
            </a:r>
          </a:p>
          <a:p>
            <a:pPr algn="l"/>
            <a:r>
              <a:rPr lang="ru-RU" sz="5400" b="0" i="0" dirty="0">
                <a:solidFill>
                  <a:srgbClr val="242D34"/>
                </a:solidFill>
                <a:effectLst/>
                <a:latin typeface="StratosSkyeng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069567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C08C39C8-050B-42EA-9C67-65083E1245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6183839"/>
              </p:ext>
            </p:extLst>
          </p:nvPr>
        </p:nvGraphicFramePr>
        <p:xfrm>
          <a:off x="533400" y="42866"/>
          <a:ext cx="5791200" cy="24241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4">
            <a:extLst>
              <a:ext uri="{FF2B5EF4-FFF2-40B4-BE49-F238E27FC236}">
                <a16:creationId xmlns:a16="http://schemas.microsoft.com/office/drawing/2014/main" id="{FFBB596D-E709-4EFE-A20E-FC7394AB1B1B}"/>
              </a:ext>
            </a:extLst>
          </p:cNvPr>
          <p:cNvSpPr txBox="1"/>
          <p:nvPr/>
        </p:nvSpPr>
        <p:spPr>
          <a:xfrm>
            <a:off x="7634287" y="642940"/>
            <a:ext cx="2600325" cy="1133475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square" rtlCol="0" anchor="t">
            <a:no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b="1" dirty="0"/>
              <a:t>Красная ветка.</a:t>
            </a:r>
          </a:p>
          <a:p>
            <a:r>
              <a:rPr lang="ru-RU" sz="1600" dirty="0"/>
              <a:t>6-го числа средняя длительность транзакции увеличилась на 24%</a:t>
            </a:r>
            <a:r>
              <a:rPr lang="ru-RU" sz="1600" baseline="0" dirty="0"/>
              <a:t> из-за технических проблем.</a:t>
            </a:r>
            <a:endParaRPr lang="ru-RU" sz="1600" dirty="0"/>
          </a:p>
        </p:txBody>
      </p:sp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0A7A9A09-8777-4021-9D04-53AF7642A1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762780"/>
              </p:ext>
            </p:extLst>
          </p:nvPr>
        </p:nvGraphicFramePr>
        <p:xfrm>
          <a:off x="533399" y="2228850"/>
          <a:ext cx="5791201" cy="2686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5">
            <a:extLst>
              <a:ext uri="{FF2B5EF4-FFF2-40B4-BE49-F238E27FC236}">
                <a16:creationId xmlns:a16="http://schemas.microsoft.com/office/drawing/2014/main" id="{CC7BEDC0-A9F1-42E6-94F5-D2AB4DFC9FE0}"/>
              </a:ext>
            </a:extLst>
          </p:cNvPr>
          <p:cNvSpPr txBox="1"/>
          <p:nvPr/>
        </p:nvSpPr>
        <p:spPr>
          <a:xfrm>
            <a:off x="7734300" y="2943225"/>
            <a:ext cx="2500312" cy="97155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square" rtlCol="0" anchor="t">
            <a:no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b="1" dirty="0"/>
              <a:t>Оранжевая ветка.</a:t>
            </a:r>
          </a:p>
          <a:p>
            <a:r>
              <a:rPr lang="ru-RU" sz="1600" dirty="0"/>
              <a:t>7-го числа длительность</a:t>
            </a:r>
            <a:r>
              <a:rPr lang="ru-RU" sz="1600" baseline="0" dirty="0"/>
              <a:t> транзакции увеличилась на 69% из-за технических проблем.</a:t>
            </a:r>
            <a:endParaRPr lang="ru-RU" sz="1600" dirty="0"/>
          </a:p>
        </p:txBody>
      </p:sp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DF6A937A-D9F6-429D-AAA0-7431C55B13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9650823"/>
              </p:ext>
            </p:extLst>
          </p:nvPr>
        </p:nvGraphicFramePr>
        <p:xfrm>
          <a:off x="533399" y="4581525"/>
          <a:ext cx="5791201" cy="22336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7">
            <a:extLst>
              <a:ext uri="{FF2B5EF4-FFF2-40B4-BE49-F238E27FC236}">
                <a16:creationId xmlns:a16="http://schemas.microsoft.com/office/drawing/2014/main" id="{9043F564-BE35-4D32-AF9D-3083E5A99E3B}"/>
              </a:ext>
            </a:extLst>
          </p:cNvPr>
          <p:cNvSpPr txBox="1"/>
          <p:nvPr/>
        </p:nvSpPr>
        <p:spPr>
          <a:xfrm>
            <a:off x="7734300" y="5081585"/>
            <a:ext cx="2500313" cy="198120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square" rtlCol="0" anchor="t">
            <a:no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b="1" dirty="0"/>
              <a:t>Сиреневая ветка</a:t>
            </a:r>
            <a:r>
              <a:rPr lang="ru-RU" sz="1600" dirty="0"/>
              <a:t>.               5-го числа из-за технических проблем на 1 сервере средняя длительность операций увеличилась на 42,52% </a:t>
            </a:r>
          </a:p>
        </p:txBody>
      </p:sp>
    </p:spTree>
    <p:extLst>
      <p:ext uri="{BB962C8B-B14F-4D97-AF65-F5344CB8AC3E}">
        <p14:creationId xmlns:p14="http://schemas.microsoft.com/office/powerpoint/2010/main" val="2829710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29F77B-0E18-499C-B647-E5F0CC064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b="0" i="0" dirty="0">
                <a:solidFill>
                  <a:srgbClr val="242D34"/>
                </a:solidFill>
                <a:effectLst/>
                <a:latin typeface="StratosSkyeng"/>
              </a:rPr>
              <a:t>В течение всего дня 07.09 действовала маркетинговая акция, по которой любой предъявитель карты с программой лояльности за покупку свыше 15.000 рублей получает дополнительный подарок.</a:t>
            </a:r>
            <a:endParaRPr lang="ru-RU" sz="2800" dirty="0"/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5FEEBF65-2D51-4E13-BDFD-597CCF144A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1371152"/>
              </p:ext>
            </p:extLst>
          </p:nvPr>
        </p:nvGraphicFramePr>
        <p:xfrm>
          <a:off x="838200" y="2371725"/>
          <a:ext cx="4762500" cy="2228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72566">
                  <a:extLst>
                    <a:ext uri="{9D8B030D-6E8A-4147-A177-3AD203B41FA5}">
                      <a16:colId xmlns:a16="http://schemas.microsoft.com/office/drawing/2014/main" val="3641412246"/>
                    </a:ext>
                  </a:extLst>
                </a:gridCol>
                <a:gridCol w="2289934">
                  <a:extLst>
                    <a:ext uri="{9D8B030D-6E8A-4147-A177-3AD203B41FA5}">
                      <a16:colId xmlns:a16="http://schemas.microsoft.com/office/drawing/2014/main" val="334109999"/>
                    </a:ext>
                  </a:extLst>
                </a:gridCol>
              </a:tblGrid>
              <a:tr h="278606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среднее значение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18 438,17 ₽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09578389"/>
                  </a:ext>
                </a:extLst>
              </a:tr>
              <a:tr h="278606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Аплифт(увеличение среднего чека)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1 331,80 ₽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46029445"/>
                  </a:ext>
                </a:extLst>
              </a:tr>
              <a:tr h="278606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Коэффициент прироста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7%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01862134"/>
                  </a:ext>
                </a:extLst>
              </a:tr>
              <a:tr h="278606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Выручка с акцией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198 747 570,00 ₽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85104294"/>
                  </a:ext>
                </a:extLst>
              </a:tr>
              <a:tr h="278606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выручка без акции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185 358 964,39 ₽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98516488"/>
                  </a:ext>
                </a:extLst>
              </a:tr>
              <a:tr h="278606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Аплифт выручки из-за акции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13 388 605,61 ₽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46778672"/>
                  </a:ext>
                </a:extLst>
              </a:tr>
              <a:tr h="278606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Расходы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2 418 500,00 ₽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54732073"/>
                  </a:ext>
                </a:extLst>
              </a:tr>
              <a:tr h="278606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Акционная прибыль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10 970 105,61 ₽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19763839"/>
                  </a:ext>
                </a:extLst>
              </a:tr>
            </a:tbl>
          </a:graphicData>
        </a:graphic>
      </p:graphicFrame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81EFF8D-BD60-40CB-BF7C-4DD0A381D2A7}"/>
              </a:ext>
            </a:extLst>
          </p:cNvPr>
          <p:cNvSpPr/>
          <p:nvPr/>
        </p:nvSpPr>
        <p:spPr>
          <a:xfrm>
            <a:off x="6591302" y="2608986"/>
            <a:ext cx="3548562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ru-RU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tratosSkyeng"/>
              </a:rPr>
              <a:t>Средний чек увеличился на 7% (1331,80р).</a:t>
            </a:r>
          </a:p>
          <a:p>
            <a:pPr algn="just"/>
            <a:r>
              <a:rPr lang="ru-RU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tratosSkyeng"/>
              </a:rPr>
              <a:t>Общее количество транзакций не изменилось</a:t>
            </a:r>
          </a:p>
          <a:p>
            <a:pPr algn="just"/>
            <a:r>
              <a:rPr lang="ru-RU" dirty="0" err="1">
                <a:solidFill>
                  <a:srgbClr val="242D34"/>
                </a:solidFill>
                <a:latin typeface="StratosSkyeng"/>
              </a:rPr>
              <a:t>А</a:t>
            </a:r>
            <a:r>
              <a:rPr lang="ru-RU" i="0" dirty="0" err="1">
                <a:solidFill>
                  <a:srgbClr val="242D34"/>
                </a:solidFill>
                <a:effectLst/>
                <a:latin typeface="StratosSkyeng"/>
              </a:rPr>
              <a:t>плифт</a:t>
            </a:r>
            <a:r>
              <a:rPr lang="ru-RU" i="0" dirty="0">
                <a:solidFill>
                  <a:srgbClr val="242D34"/>
                </a:solidFill>
                <a:effectLst/>
                <a:latin typeface="StratosSkyeng"/>
              </a:rPr>
              <a:t> среднего чека покрыл расходы на эту лотерею. </a:t>
            </a:r>
            <a:endParaRPr lang="ru-RU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66514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53C62C-332E-4CFC-9F94-CFB642EA7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/>
              <a:t>Программа лояльности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A0822BD2-CEBA-45DF-9451-09B612C835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5266722"/>
              </p:ext>
            </p:extLst>
          </p:nvPr>
        </p:nvGraphicFramePr>
        <p:xfrm>
          <a:off x="282574" y="2286793"/>
          <a:ext cx="6270625" cy="18375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1288">
                  <a:extLst>
                    <a:ext uri="{9D8B030D-6E8A-4147-A177-3AD203B41FA5}">
                      <a16:colId xmlns:a16="http://schemas.microsoft.com/office/drawing/2014/main" val="2491600524"/>
                    </a:ext>
                  </a:extLst>
                </a:gridCol>
                <a:gridCol w="2775308">
                  <a:extLst>
                    <a:ext uri="{9D8B030D-6E8A-4147-A177-3AD203B41FA5}">
                      <a16:colId xmlns:a16="http://schemas.microsoft.com/office/drawing/2014/main" val="2231296125"/>
                    </a:ext>
                  </a:extLst>
                </a:gridCol>
                <a:gridCol w="2304029">
                  <a:extLst>
                    <a:ext uri="{9D8B030D-6E8A-4147-A177-3AD203B41FA5}">
                      <a16:colId xmlns:a16="http://schemas.microsoft.com/office/drawing/2014/main" val="2261229147"/>
                    </a:ext>
                  </a:extLst>
                </a:gridCol>
              </a:tblGrid>
              <a:tr h="262504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Названия строк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Среднее по полю </a:t>
                      </a:r>
                      <a:r>
                        <a:rPr lang="en-US" sz="1100" u="none" strike="noStrike">
                          <a:effectLst/>
                        </a:rPr>
                        <a:t>Discount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Количество по полю id_transaction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30491374"/>
                  </a:ext>
                </a:extLst>
              </a:tr>
              <a:tr h="262504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5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121,57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10120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74102470"/>
                  </a:ext>
                </a:extLst>
              </a:tr>
              <a:tr h="262504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6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125,99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10217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77072382"/>
                  </a:ext>
                </a:extLst>
              </a:tr>
              <a:tr h="262504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7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136,91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10053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38012692"/>
                  </a:ext>
                </a:extLst>
              </a:tr>
              <a:tr h="262504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Общий итог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128,13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30390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80543397"/>
                  </a:ext>
                </a:extLst>
              </a:tr>
              <a:tr h="262504"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37375193"/>
                  </a:ext>
                </a:extLst>
              </a:tr>
              <a:tr h="262504"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Теряем в день в среднем на 1 транзакцию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128,1305967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58634561"/>
                  </a:ext>
                </a:extLst>
              </a:tr>
            </a:tbl>
          </a:graphicData>
        </a:graphic>
      </p:graphicFrame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7C5604F-09D0-4936-83A8-D524E7928478}"/>
              </a:ext>
            </a:extLst>
          </p:cNvPr>
          <p:cNvSpPr/>
          <p:nvPr/>
        </p:nvSpPr>
        <p:spPr>
          <a:xfrm>
            <a:off x="7572374" y="2967335"/>
            <a:ext cx="2567489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В среднем компания теряет 128.13 р в день.</a:t>
            </a:r>
            <a:endParaRPr lang="ru-RU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36170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EC90C1-FC3B-4215-A17D-A3856878B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800" dirty="0"/>
              <a:t>Экономия клиента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B2BE137A-5BD2-4CCA-A82D-24C8B0DF31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3394059"/>
              </p:ext>
            </p:extLst>
          </p:nvPr>
        </p:nvGraphicFramePr>
        <p:xfrm>
          <a:off x="1276350" y="1819275"/>
          <a:ext cx="97155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14484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234F93-BD7E-4F52-9123-9FBD963FC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dirty="0"/>
              <a:t>Понижение скидок по программам лояльности свыше 4% на 1 </a:t>
            </a:r>
            <a:r>
              <a:rPr lang="ru-RU" sz="2800" b="1" dirty="0" err="1"/>
              <a:t>п.п</a:t>
            </a:r>
            <a:r>
              <a:rPr lang="ru-RU" sz="2800" b="1" dirty="0"/>
              <a:t>.</a:t>
            </a:r>
          </a:p>
        </p:txBody>
      </p:sp>
      <p:graphicFrame>
        <p:nvGraphicFramePr>
          <p:cNvPr id="10" name="Объект 9">
            <a:extLst>
              <a:ext uri="{FF2B5EF4-FFF2-40B4-BE49-F238E27FC236}">
                <a16:creationId xmlns:a16="http://schemas.microsoft.com/office/drawing/2014/main" id="{3B3E3D28-4534-49AA-90D8-D175107C6D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0432648"/>
              </p:ext>
            </p:extLst>
          </p:nvPr>
        </p:nvGraphicFramePr>
        <p:xfrm>
          <a:off x="739775" y="2186781"/>
          <a:ext cx="5499100" cy="23471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8518">
                  <a:extLst>
                    <a:ext uri="{9D8B030D-6E8A-4147-A177-3AD203B41FA5}">
                      <a16:colId xmlns:a16="http://schemas.microsoft.com/office/drawing/2014/main" val="3212394352"/>
                    </a:ext>
                  </a:extLst>
                </a:gridCol>
                <a:gridCol w="2070590">
                  <a:extLst>
                    <a:ext uri="{9D8B030D-6E8A-4147-A177-3AD203B41FA5}">
                      <a16:colId xmlns:a16="http://schemas.microsoft.com/office/drawing/2014/main" val="1004066528"/>
                    </a:ext>
                  </a:extLst>
                </a:gridCol>
                <a:gridCol w="2259992">
                  <a:extLst>
                    <a:ext uri="{9D8B030D-6E8A-4147-A177-3AD203B41FA5}">
                      <a16:colId xmlns:a16="http://schemas.microsoft.com/office/drawing/2014/main" val="288169785"/>
                    </a:ext>
                  </a:extLst>
                </a:gridCol>
              </a:tblGrid>
              <a:tr h="233544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Названия строк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Средняя экономия клиента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Количество транзакций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61730398"/>
                  </a:ext>
                </a:extLst>
              </a:tr>
              <a:tr h="233544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5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106,43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10120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44418201"/>
                  </a:ext>
                </a:extLst>
              </a:tr>
              <a:tr h="233544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6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110,00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10217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22459278"/>
                  </a:ext>
                </a:extLst>
              </a:tr>
              <a:tr h="233544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7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119,93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10053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8952033"/>
                  </a:ext>
                </a:extLst>
              </a:tr>
              <a:tr h="233544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Общий итог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112,095727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30390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21541547"/>
                  </a:ext>
                </a:extLst>
              </a:tr>
              <a:tr h="233544"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6744817"/>
                  </a:ext>
                </a:extLst>
              </a:tr>
              <a:tr h="233544"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Среднее значение новое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112,10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88906220"/>
                  </a:ext>
                </a:extLst>
              </a:tr>
              <a:tr h="233544"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Среднее значение старое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128,13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65021706"/>
                  </a:ext>
                </a:extLst>
              </a:tr>
              <a:tr h="233544"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18132863"/>
                  </a:ext>
                </a:extLst>
              </a:tr>
              <a:tr h="245221"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Коэффициент прироста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effectLst/>
                        </a:rPr>
                        <a:t>-12,51%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39933651"/>
                  </a:ext>
                </a:extLst>
              </a:tr>
            </a:tbl>
          </a:graphicData>
        </a:graphic>
      </p:graphicFrame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55946F9-CC4B-400E-AA3F-D7FD2CED0DAB}"/>
              </a:ext>
            </a:extLst>
          </p:cNvPr>
          <p:cNvSpPr/>
          <p:nvPr/>
        </p:nvSpPr>
        <p:spPr>
          <a:xfrm>
            <a:off x="7419974" y="2967335"/>
            <a:ext cx="2719889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Средняя экономия клиента с одной транзакции составила 112,10руб</a:t>
            </a:r>
          </a:p>
          <a:p>
            <a:pPr algn="ctr"/>
            <a:r>
              <a:rPr lang="ru-RU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Экономия клиента снизилась на 12.51%</a:t>
            </a:r>
          </a:p>
        </p:txBody>
      </p:sp>
    </p:spTree>
    <p:extLst>
      <p:ext uri="{BB962C8B-B14F-4D97-AF65-F5344CB8AC3E}">
        <p14:creationId xmlns:p14="http://schemas.microsoft.com/office/powerpoint/2010/main" val="892309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E33DFE-59B8-4263-9EE0-A5C5868D6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dirty="0" err="1"/>
              <a:t>Дашборд</a:t>
            </a:r>
            <a:r>
              <a:rPr lang="ru-RU" sz="2800" b="1" dirty="0"/>
              <a:t> для расчета динамики среднего платежа и количества транзакций.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14FB9F7F-837F-4192-A783-0B88E1C966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8888978"/>
              </p:ext>
            </p:extLst>
          </p:nvPr>
        </p:nvGraphicFramePr>
        <p:xfrm>
          <a:off x="742950" y="2138204"/>
          <a:ext cx="3011754" cy="2773680"/>
        </p:xfrm>
        <a:graphic>
          <a:graphicData uri="http://schemas.openxmlformats.org/drawingml/2006/table">
            <a:tbl>
              <a:tblPr/>
              <a:tblGrid>
                <a:gridCol w="965306">
                  <a:extLst>
                    <a:ext uri="{9D8B030D-6E8A-4147-A177-3AD203B41FA5}">
                      <a16:colId xmlns:a16="http://schemas.microsoft.com/office/drawing/2014/main" val="1359943584"/>
                    </a:ext>
                  </a:extLst>
                </a:gridCol>
                <a:gridCol w="2046448">
                  <a:extLst>
                    <a:ext uri="{9D8B030D-6E8A-4147-A177-3AD203B41FA5}">
                      <a16:colId xmlns:a16="http://schemas.microsoft.com/office/drawing/2014/main" val="2123435155"/>
                    </a:ext>
                  </a:extLst>
                </a:gridCol>
              </a:tblGrid>
              <a:tr h="288720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Адрес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b="1" dirty="0">
                          <a:effectLst/>
                        </a:rPr>
                        <a:t>ул. Щорса, 26/3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9724637"/>
                  </a:ext>
                </a:extLst>
              </a:tr>
              <a:tr h="288720">
                <a:tc>
                  <a:txBody>
                    <a:bodyPr/>
                    <a:lstStyle/>
                    <a:p>
                      <a:pPr rtl="0" fontAlgn="b"/>
                      <a:endParaRPr lang="ru-RU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ru-RU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7034431"/>
                  </a:ext>
                </a:extLst>
              </a:tr>
              <a:tr h="288720"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Свод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6776910"/>
                  </a:ext>
                </a:extLst>
              </a:tr>
              <a:tr h="288720">
                <a:tc>
                  <a:txBody>
                    <a:bodyPr/>
                    <a:lstStyle/>
                    <a:p>
                      <a:pPr rtl="0" fontAlgn="b"/>
                      <a:r>
                        <a:rPr lang="en-US">
                          <a:effectLst/>
                        </a:rPr>
                        <a:t>Pay_code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>
                          <a:effectLst/>
                        </a:rPr>
                        <a:t>R_02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5210206"/>
                  </a:ext>
                </a:extLst>
              </a:tr>
              <a:tr h="542230">
                <a:tc>
                  <a:txBody>
                    <a:bodyPr/>
                    <a:lstStyle/>
                    <a:p>
                      <a:pPr rtl="0" fontAlgn="b"/>
                      <a:r>
                        <a:rPr lang="en-US">
                          <a:effectLst/>
                        </a:rPr>
                        <a:t>Pay_system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>
                          <a:effectLst/>
                        </a:rPr>
                        <a:t>Visa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445198"/>
                  </a:ext>
                </a:extLst>
              </a:tr>
              <a:tr h="288720">
                <a:tc>
                  <a:txBody>
                    <a:bodyPr/>
                    <a:lstStyle/>
                    <a:p>
                      <a:pPr rtl="0" fontAlgn="b"/>
                      <a:r>
                        <a:rPr lang="ru-RU">
                          <a:effectLst/>
                        </a:rPr>
                        <a:t>Сумма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р.24 823 095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1616185"/>
                  </a:ext>
                </a:extLst>
              </a:tr>
              <a:tr h="288720">
                <a:tc>
                  <a:txBody>
                    <a:bodyPr/>
                    <a:lstStyle/>
                    <a:p>
                      <a:pPr rtl="0" fontAlgn="b"/>
                      <a:r>
                        <a:rPr lang="ru-RU">
                          <a:effectLst/>
                        </a:rPr>
                        <a:t>Кол-во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dirty="0">
                          <a:effectLst/>
                        </a:rPr>
                        <a:t>1 656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7184723"/>
                  </a:ext>
                </a:extLst>
              </a:tr>
              <a:tr h="288720">
                <a:tc>
                  <a:txBody>
                    <a:bodyPr/>
                    <a:lstStyle/>
                    <a:p>
                      <a:pPr rtl="0" fontAlgn="b"/>
                      <a:r>
                        <a:rPr lang="ru-RU">
                          <a:effectLst/>
                        </a:rPr>
                        <a:t>Среднее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dirty="0">
                          <a:effectLst/>
                        </a:rPr>
                        <a:t>р.14 990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9679611"/>
                  </a:ext>
                </a:extLst>
              </a:tr>
            </a:tbl>
          </a:graphicData>
        </a:graphic>
      </p:graphicFrame>
      <p:pic>
        <p:nvPicPr>
          <p:cNvPr id="1030" name="Picture 6">
            <a:extLst>
              <a:ext uri="{FF2B5EF4-FFF2-40B4-BE49-F238E27FC236}">
                <a16:creationId xmlns:a16="http://schemas.microsoft.com/office/drawing/2014/main" id="{00A97996-1881-492C-869C-44AECFBFD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2067" y="1506718"/>
            <a:ext cx="7511733" cy="4646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0686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C87028-8D3E-4610-AD35-34A45EAED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205"/>
          </a:xfrm>
        </p:spPr>
        <p:txBody>
          <a:bodyPr/>
          <a:lstStyle/>
          <a:p>
            <a:r>
              <a:rPr lang="ru-RU" dirty="0" err="1"/>
              <a:t>Дашборд</a:t>
            </a:r>
            <a:r>
              <a:rPr lang="ru-RU" dirty="0"/>
              <a:t> с новыми параметрами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18B28DCB-5BC5-4139-A5CF-7A5714E5A2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7088947"/>
              </p:ext>
            </p:extLst>
          </p:nvPr>
        </p:nvGraphicFramePr>
        <p:xfrm>
          <a:off x="1138237" y="1283330"/>
          <a:ext cx="4281487" cy="2101066"/>
        </p:xfrm>
        <a:graphic>
          <a:graphicData uri="http://schemas.openxmlformats.org/drawingml/2006/table">
            <a:tbl>
              <a:tblPr/>
              <a:tblGrid>
                <a:gridCol w="1929157">
                  <a:extLst>
                    <a:ext uri="{9D8B030D-6E8A-4147-A177-3AD203B41FA5}">
                      <a16:colId xmlns:a16="http://schemas.microsoft.com/office/drawing/2014/main" val="4040632532"/>
                    </a:ext>
                  </a:extLst>
                </a:gridCol>
                <a:gridCol w="2352330">
                  <a:extLst>
                    <a:ext uri="{9D8B030D-6E8A-4147-A177-3AD203B41FA5}">
                      <a16:colId xmlns:a16="http://schemas.microsoft.com/office/drawing/2014/main" val="1243424752"/>
                    </a:ext>
                  </a:extLst>
                </a:gridCol>
              </a:tblGrid>
              <a:tr h="294593">
                <a:tc>
                  <a:txBody>
                    <a:bodyPr/>
                    <a:lstStyle/>
                    <a:p>
                      <a:pPr rtl="0" fontAlgn="b"/>
                      <a:r>
                        <a:rPr lang="ru-RU" sz="1600" dirty="0">
                          <a:effectLst/>
                        </a:rPr>
                        <a:t>Свод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ru-RU" dirty="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956820"/>
                  </a:ext>
                </a:extLst>
              </a:tr>
              <a:tr h="368543">
                <a:tc>
                  <a:txBody>
                    <a:bodyPr/>
                    <a:lstStyle/>
                    <a:p>
                      <a:pPr rtl="0" fontAlgn="b"/>
                      <a:r>
                        <a:rPr lang="ru-RU" sz="1600" dirty="0">
                          <a:effectLst/>
                        </a:rPr>
                        <a:t>Адрес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ru-RU" sz="1600" dirty="0">
                          <a:effectLst/>
                        </a:rPr>
                        <a:t>пр-т Вернадского, 88к3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2384778"/>
                  </a:ext>
                </a:extLst>
              </a:tr>
              <a:tr h="368543">
                <a:tc>
                  <a:txBody>
                    <a:bodyPr/>
                    <a:lstStyle/>
                    <a:p>
                      <a:pPr rtl="0" fontAlgn="b"/>
                      <a:r>
                        <a:rPr lang="ru-RU" sz="1600" dirty="0">
                          <a:effectLst/>
                        </a:rPr>
                        <a:t>Валюта платежа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ru-RU" sz="1600" dirty="0">
                          <a:effectLst/>
                        </a:rPr>
                        <a:t>Рубль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8008806"/>
                  </a:ext>
                </a:extLst>
              </a:tr>
              <a:tr h="495779">
                <a:tc>
                  <a:txBody>
                    <a:bodyPr/>
                    <a:lstStyle/>
                    <a:p>
                      <a:pPr rtl="0" fontAlgn="b"/>
                      <a:r>
                        <a:rPr lang="ru-RU" sz="1600">
                          <a:effectLst/>
                        </a:rPr>
                        <a:t>Минимальное значение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ru-RU" sz="1600" dirty="0">
                          <a:effectLst/>
                        </a:rPr>
                        <a:t>1000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5359050"/>
                  </a:ext>
                </a:extLst>
              </a:tr>
              <a:tr h="495779">
                <a:tc>
                  <a:txBody>
                    <a:bodyPr/>
                    <a:lstStyle/>
                    <a:p>
                      <a:pPr rtl="0" fontAlgn="b"/>
                      <a:r>
                        <a:rPr lang="ru-RU" sz="1600" dirty="0">
                          <a:effectLst/>
                        </a:rPr>
                        <a:t>Максимальное значение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ru-RU" sz="1600" dirty="0">
                          <a:effectLst/>
                        </a:rPr>
                        <a:t>25000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543959"/>
                  </a:ext>
                </a:extLst>
              </a:tr>
            </a:tbl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9E543BB7-26EC-4DB5-A61E-29AE8194A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094" y="3551432"/>
            <a:ext cx="4914900" cy="3061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6ECA4454-DE6C-464B-B345-5DFAB98C2A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551432"/>
            <a:ext cx="4914899" cy="3062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70923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FCEDB6-1C13-4CF6-B26D-5FC2A0DBA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50981"/>
          </a:xfrm>
        </p:spPr>
        <p:txBody>
          <a:bodyPr>
            <a:normAutofit/>
          </a:bodyPr>
          <a:lstStyle/>
          <a:p>
            <a:r>
              <a:rPr lang="ru-RU" sz="3200" b="1" dirty="0"/>
              <a:t>Исправленный отчет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5F82EF3C-1434-472F-9B14-1ABD012D2E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9454599"/>
              </p:ext>
            </p:extLst>
          </p:nvPr>
        </p:nvGraphicFramePr>
        <p:xfrm>
          <a:off x="299068" y="1560736"/>
          <a:ext cx="3320391" cy="4023360"/>
        </p:xfrm>
        <a:graphic>
          <a:graphicData uri="http://schemas.openxmlformats.org/drawingml/2006/table">
            <a:tbl>
              <a:tblPr/>
              <a:tblGrid>
                <a:gridCol w="1135923">
                  <a:extLst>
                    <a:ext uri="{9D8B030D-6E8A-4147-A177-3AD203B41FA5}">
                      <a16:colId xmlns:a16="http://schemas.microsoft.com/office/drawing/2014/main" val="808420564"/>
                    </a:ext>
                  </a:extLst>
                </a:gridCol>
                <a:gridCol w="728156">
                  <a:extLst>
                    <a:ext uri="{9D8B030D-6E8A-4147-A177-3AD203B41FA5}">
                      <a16:colId xmlns:a16="http://schemas.microsoft.com/office/drawing/2014/main" val="1845471358"/>
                    </a:ext>
                  </a:extLst>
                </a:gridCol>
                <a:gridCol w="728156">
                  <a:extLst>
                    <a:ext uri="{9D8B030D-6E8A-4147-A177-3AD203B41FA5}">
                      <a16:colId xmlns:a16="http://schemas.microsoft.com/office/drawing/2014/main" val="988613037"/>
                    </a:ext>
                  </a:extLst>
                </a:gridCol>
                <a:gridCol w="728156">
                  <a:extLst>
                    <a:ext uri="{9D8B030D-6E8A-4147-A177-3AD203B41FA5}">
                      <a16:colId xmlns:a16="http://schemas.microsoft.com/office/drawing/2014/main" val="844613931"/>
                    </a:ext>
                  </a:extLst>
                </a:gridCol>
              </a:tblGrid>
              <a:tr h="520569">
                <a:tc>
                  <a:txBody>
                    <a:bodyPr/>
                    <a:lstStyle/>
                    <a:p>
                      <a:pPr rtl="0" fontAlgn="b"/>
                      <a:r>
                        <a:rPr lang="ru-RU">
                          <a:effectLst/>
                        </a:rPr>
                        <a:t>Стоимость операций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dirty="0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2416340"/>
                  </a:ext>
                </a:extLst>
              </a:tr>
              <a:tr h="27718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>
                          <a:effectLst/>
                        </a:rPr>
                        <a:t>R_01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р.0,30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р.0,50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р.0,58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6047917"/>
                  </a:ext>
                </a:extLst>
              </a:tr>
              <a:tr h="27718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>
                          <a:effectLst/>
                        </a:rPr>
                        <a:t>R_02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р.0,35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р.0,60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р.0,62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8125848"/>
                  </a:ext>
                </a:extLst>
              </a:tr>
              <a:tr h="27718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>
                          <a:effectLst/>
                        </a:rPr>
                        <a:t>R_20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р.0,45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р.0,65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р.0,69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8958628"/>
                  </a:ext>
                </a:extLst>
              </a:tr>
              <a:tr h="27718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>
                          <a:effectLst/>
                        </a:rPr>
                        <a:t>AM_01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р.1,20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р.1,35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р.1,40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0119599"/>
                  </a:ext>
                </a:extLst>
              </a:tr>
              <a:tr h="27718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>
                          <a:effectLst/>
                        </a:rPr>
                        <a:t>AM_02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р.1,25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р.1,55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р.1,44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955323"/>
                  </a:ext>
                </a:extLst>
              </a:tr>
              <a:tr h="27718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>
                          <a:effectLst/>
                        </a:rPr>
                        <a:t>EU_01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р.1,40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р.1,80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р.1,85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520039"/>
                  </a:ext>
                </a:extLst>
              </a:tr>
              <a:tr h="27718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>
                          <a:effectLst/>
                        </a:rPr>
                        <a:t>EU_02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р.1,45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р.1,90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р.1,90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624634"/>
                  </a:ext>
                </a:extLst>
              </a:tr>
              <a:tr h="27718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>
                          <a:effectLst/>
                        </a:rPr>
                        <a:t>KZ_01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р.0,80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р.1,00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р.1,05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5431506"/>
                  </a:ext>
                </a:extLst>
              </a:tr>
              <a:tr h="27718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>
                          <a:effectLst/>
                        </a:rPr>
                        <a:t>KZ_02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р.0,82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р.1,10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р.1,08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6760235"/>
                  </a:ext>
                </a:extLst>
              </a:tr>
              <a:tr h="27718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KZ_20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р.0,84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р.1,20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р.1,14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7503054"/>
                  </a:ext>
                </a:extLst>
              </a:tr>
              <a:tr h="27718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>
                          <a:effectLst/>
                        </a:rPr>
                        <a:t>A_01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р.2,30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р.3,00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dirty="0">
                          <a:effectLst/>
                        </a:rPr>
                        <a:t>р.3,11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6299050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A274C171-5F94-457A-864E-0C26174E0D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620954"/>
              </p:ext>
            </p:extLst>
          </p:nvPr>
        </p:nvGraphicFramePr>
        <p:xfrm>
          <a:off x="3619459" y="1560189"/>
          <a:ext cx="3269182" cy="4023360"/>
        </p:xfrm>
        <a:graphic>
          <a:graphicData uri="http://schemas.openxmlformats.org/drawingml/2006/table">
            <a:tbl>
              <a:tblPr/>
              <a:tblGrid>
                <a:gridCol w="1014574">
                  <a:extLst>
                    <a:ext uri="{9D8B030D-6E8A-4147-A177-3AD203B41FA5}">
                      <a16:colId xmlns:a16="http://schemas.microsoft.com/office/drawing/2014/main" val="1506434277"/>
                    </a:ext>
                  </a:extLst>
                </a:gridCol>
                <a:gridCol w="751536">
                  <a:extLst>
                    <a:ext uri="{9D8B030D-6E8A-4147-A177-3AD203B41FA5}">
                      <a16:colId xmlns:a16="http://schemas.microsoft.com/office/drawing/2014/main" val="2871927933"/>
                    </a:ext>
                  </a:extLst>
                </a:gridCol>
                <a:gridCol w="751536">
                  <a:extLst>
                    <a:ext uri="{9D8B030D-6E8A-4147-A177-3AD203B41FA5}">
                      <a16:colId xmlns:a16="http://schemas.microsoft.com/office/drawing/2014/main" val="1711298581"/>
                    </a:ext>
                  </a:extLst>
                </a:gridCol>
                <a:gridCol w="751536">
                  <a:extLst>
                    <a:ext uri="{9D8B030D-6E8A-4147-A177-3AD203B41FA5}">
                      <a16:colId xmlns:a16="http://schemas.microsoft.com/office/drawing/2014/main" val="295226208"/>
                    </a:ext>
                  </a:extLst>
                </a:gridCol>
              </a:tblGrid>
              <a:tr h="491156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Кол-во операций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3570901"/>
                  </a:ext>
                </a:extLst>
              </a:tr>
              <a:tr h="29223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>
                          <a:effectLst/>
                        </a:rPr>
                        <a:t>R_01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1 542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3 816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2 088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8121177"/>
                  </a:ext>
                </a:extLst>
              </a:tr>
              <a:tr h="29223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>
                          <a:effectLst/>
                        </a:rPr>
                        <a:t>R_02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dirty="0">
                          <a:effectLst/>
                        </a:rPr>
                        <a:t>5 825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17 094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14 471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745627"/>
                  </a:ext>
                </a:extLst>
              </a:tr>
              <a:tr h="29223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>
                          <a:effectLst/>
                        </a:rPr>
                        <a:t>R_20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2 634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7 495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6 179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3371330"/>
                  </a:ext>
                </a:extLst>
              </a:tr>
              <a:tr h="29223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>
                          <a:effectLst/>
                        </a:rPr>
                        <a:t>AM_01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227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701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533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5071896"/>
                  </a:ext>
                </a:extLst>
              </a:tr>
              <a:tr h="29223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>
                          <a:effectLst/>
                        </a:rPr>
                        <a:t>AM_02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80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253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183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3917989"/>
                  </a:ext>
                </a:extLst>
              </a:tr>
              <a:tr h="29223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EU_01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142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429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312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2409688"/>
                  </a:ext>
                </a:extLst>
              </a:tr>
              <a:tr h="29223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>
                          <a:effectLst/>
                        </a:rPr>
                        <a:t>EU_02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52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139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104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3203232"/>
                  </a:ext>
                </a:extLst>
              </a:tr>
              <a:tr h="29223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>
                          <a:effectLst/>
                        </a:rPr>
                        <a:t>KZ_01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15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26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12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3273286"/>
                  </a:ext>
                </a:extLst>
              </a:tr>
              <a:tr h="29223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>
                          <a:effectLst/>
                        </a:rPr>
                        <a:t>KZ_02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40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110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92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5785066"/>
                  </a:ext>
                </a:extLst>
              </a:tr>
              <a:tr h="29223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>
                          <a:effectLst/>
                        </a:rPr>
                        <a:t>KZ_20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dirty="0">
                          <a:effectLst/>
                        </a:rPr>
                        <a:t>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48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43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3912878"/>
                  </a:ext>
                </a:extLst>
              </a:tr>
              <a:tr h="29223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>
                          <a:effectLst/>
                        </a:rPr>
                        <a:t>A_01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56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>
                          <a:effectLst/>
                        </a:rPr>
                        <a:t>158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dirty="0">
                          <a:effectLst/>
                        </a:rPr>
                        <a:t>142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6915057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D90B157F-DD10-48F9-8923-083676DE89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378339"/>
              </p:ext>
            </p:extLst>
          </p:nvPr>
        </p:nvGraphicFramePr>
        <p:xfrm>
          <a:off x="6939850" y="1799532"/>
          <a:ext cx="4638675" cy="2072640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755774233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176887334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351958341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948739540"/>
                    </a:ext>
                  </a:extLst>
                </a:gridCol>
              </a:tblGrid>
              <a:tr h="217795">
                <a:tc>
                  <a:txBody>
                    <a:bodyPr/>
                    <a:lstStyle/>
                    <a:p>
                      <a:pPr rtl="0" fontAlgn="b"/>
                      <a:r>
                        <a:rPr lang="ru-RU" dirty="0">
                          <a:effectLst/>
                        </a:rPr>
                        <a:t>Всего операций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ru-RU" dirty="0">
                          <a:effectLst/>
                        </a:rPr>
                        <a:t>10 622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ru-RU">
                          <a:effectLst/>
                        </a:rPr>
                        <a:t>30 269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ru-RU">
                          <a:effectLst/>
                        </a:rPr>
                        <a:t>24 159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091299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ru-RU">
                          <a:effectLst/>
                        </a:rPr>
                        <a:t>Операций со скидкой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ru-RU">
                          <a:effectLst/>
                        </a:rPr>
                        <a:t>622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ru-RU">
                          <a:effectLst/>
                        </a:rPr>
                        <a:t>20 269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ru-RU">
                          <a:effectLst/>
                        </a:rPr>
                        <a:t>14 159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487989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ru-RU">
                          <a:effectLst/>
                        </a:rPr>
                        <a:t>Скидка за 1 операцию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ru-RU">
                          <a:effectLst/>
                        </a:rPr>
                        <a:t>0,06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ru-RU">
                          <a:effectLst/>
                        </a:rPr>
                        <a:t>0,08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ru-RU">
                          <a:effectLst/>
                        </a:rPr>
                        <a:t>0,02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748959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ru-RU">
                          <a:effectLst/>
                        </a:rPr>
                        <a:t>Сумма скидки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ru-RU">
                          <a:effectLst/>
                        </a:rPr>
                        <a:t>37,32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ru-RU">
                          <a:effectLst/>
                        </a:rPr>
                        <a:t>1621,52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ru-RU" dirty="0">
                          <a:effectLst/>
                        </a:rPr>
                        <a:t>283,18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9469998"/>
                  </a:ext>
                </a:extLst>
              </a:tr>
            </a:tbl>
          </a:graphicData>
        </a:graphic>
      </p:graphicFrame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765F069-A4EB-4EFC-9837-5B5450665414}"/>
              </a:ext>
            </a:extLst>
          </p:cNvPr>
          <p:cNvSpPr/>
          <p:nvPr/>
        </p:nvSpPr>
        <p:spPr>
          <a:xfrm>
            <a:off x="420786" y="5880468"/>
            <a:ext cx="10933014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Расчет</a:t>
            </a:r>
            <a:r>
              <a:rPr lang="ru-RU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финальной цифры затрат нашего коллеги был неверен (38775 р). Суммарные затраты с учетом скидки при пересчете составили 39496 р.</a:t>
            </a: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D1333B35-37AA-4E04-9E35-853DC92FDB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3353916"/>
              </p:ext>
            </p:extLst>
          </p:nvPr>
        </p:nvGraphicFramePr>
        <p:xfrm>
          <a:off x="7950256" y="4168544"/>
          <a:ext cx="952500" cy="937260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193272942"/>
                    </a:ext>
                  </a:extLst>
                </a:gridCol>
              </a:tblGrid>
              <a:tr h="240292">
                <a:tc>
                  <a:txBody>
                    <a:bodyPr/>
                    <a:lstStyle/>
                    <a:p>
                      <a:pPr rtl="0" fontAlgn="b"/>
                      <a:r>
                        <a:rPr lang="ru-RU">
                          <a:effectLst/>
                        </a:rPr>
                        <a:t>Затраты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22345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ru-RU">
                          <a:effectLst/>
                        </a:rPr>
                        <a:t>р.38 775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351846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ru-RU" dirty="0">
                          <a:effectLst/>
                        </a:rPr>
                        <a:t>р.39 496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3008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6545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AF1E569-B1F6-4666-9A18-951C8A58D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1179"/>
            <a:ext cx="10515600" cy="554578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ru-RU" sz="6600" dirty="0"/>
          </a:p>
          <a:p>
            <a:pPr marL="0" indent="0" algn="ctr">
              <a:buNone/>
            </a:pPr>
            <a:endParaRPr lang="ru-RU" sz="6600" dirty="0"/>
          </a:p>
          <a:p>
            <a:pPr marL="0" indent="0" algn="ctr">
              <a:buNone/>
            </a:pPr>
            <a:r>
              <a:rPr lang="ru-RU" sz="660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70393943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1481</TotalTime>
  <Words>1143</Words>
  <Application>Microsoft Office PowerPoint</Application>
  <PresentationFormat>Широкоэкранный</PresentationFormat>
  <Paragraphs>334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StratosSkyeng</vt:lpstr>
      <vt:lpstr>Тема Office</vt:lpstr>
      <vt:lpstr>Курсовая работа Excel</vt:lpstr>
      <vt:lpstr> Мы видим, что за первые 4 дня сентября произошел рост количества транзакций. Хотим проверить, какие именно торговые точки принесли нам этот прирост. </vt:lpstr>
      <vt:lpstr>Количество транзакций на серверах до и после переподключения точки на Ракетном бульваре</vt:lpstr>
      <vt:lpstr>Коэффициент роста нагрузки на серверах до и после переподключения точки на Ракетном бульваре</vt:lpstr>
      <vt:lpstr> Рассчитаем, в каких точках какой процент операций совершается с помощью касс самообслуживания. </vt:lpstr>
      <vt:lpstr>Средняя длительность операции</vt:lpstr>
      <vt:lpstr>Исследование 1 сентября</vt:lpstr>
      <vt:lpstr>Презентация PowerPoint</vt:lpstr>
      <vt:lpstr>Технические проблемы</vt:lpstr>
      <vt:lpstr>Презентация PowerPoint</vt:lpstr>
      <vt:lpstr>В течение всего дня 07.09 действовала маркетинговая акция, по которой любой предъявитель карты с программой лояльности за покупку свыше 15.000 рублей получает дополнительный подарок.</vt:lpstr>
      <vt:lpstr>Программа лояльности</vt:lpstr>
      <vt:lpstr>Экономия клиента</vt:lpstr>
      <vt:lpstr>Понижение скидок по программам лояльности свыше 4% на 1 п.п.</vt:lpstr>
      <vt:lpstr>Дашборд для расчета динамики среднего платежа и количества транзакций.</vt:lpstr>
      <vt:lpstr>Дашборд с новыми параметрами</vt:lpstr>
      <vt:lpstr>Исправленный отчет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Курсовая работа</dc:title>
  <dc:creator>Мария</dc:creator>
  <cp:lastModifiedBy>Мария</cp:lastModifiedBy>
  <cp:revision>41</cp:revision>
  <dcterms:created xsi:type="dcterms:W3CDTF">2025-03-25T09:13:15Z</dcterms:created>
  <dcterms:modified xsi:type="dcterms:W3CDTF">2025-03-27T15:16:20Z</dcterms:modified>
</cp:coreProperties>
</file>